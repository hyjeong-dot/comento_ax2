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y="6858000" cx="9144000"/>
  <p:notesSz cx="6858000" cy="9144000"/>
  <p:embeddedFontLst>
    <p:embeddedFont>
      <p:font typeface="Noto Sans KR"/>
      <p:regular r:id="rId28"/>
      <p:bold r:id="rId29"/>
    </p:embeddedFont>
    <p:embeddedFont>
      <p:font typeface="Poppi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4" roundtripDataSignature="AMtx7mhK8TOoj9t7hk4RkAWT97nrw6BI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A987C8-4B4C-4435-97A4-3E4B7B9A9D6B}">
  <a:tblStyle styleId="{A9A987C8-4B4C-4435-97A4-3E4B7B9A9D6B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  <a:tblStyle styleId="{0076B1BD-1B71-45DC-B12F-3ED06088C10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font" Target="fonts/NotoSansKR-regular.fntdata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otoSansKR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oppins-bold.fntdata"/><Relationship Id="rId30" Type="http://schemas.openxmlformats.org/officeDocument/2006/relationships/font" Target="fonts/Poppins-regular.fntdata"/><Relationship Id="rId11" Type="http://schemas.openxmlformats.org/officeDocument/2006/relationships/slide" Target="slides/slide4.xml"/><Relationship Id="rId33" Type="http://schemas.openxmlformats.org/officeDocument/2006/relationships/font" Target="fonts/Poppins-boldItalic.fntdata"/><Relationship Id="rId10" Type="http://schemas.openxmlformats.org/officeDocument/2006/relationships/slide" Target="slides/slide3.xml"/><Relationship Id="rId32" Type="http://schemas.openxmlformats.org/officeDocument/2006/relationships/font" Target="fonts/Poppi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customschemas.google.com/relationships/presentationmetadata" Target="meta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409ea9d7f65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409ea9d7f65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409ea9d7f65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09ea9d7f65_1_1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09ea9d7f65_1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409ea9d7f65_1_1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409d9cb7e79_3_2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409d9cb7e79_3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409d9cb7e79_3_2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409d9cb7e79_3_3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g409d9cb7e79_3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409d9cb7e79_3_3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409d96ae0ac_1_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g409d96ae0ac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409d96ae0ac_1_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409d9cb7e79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2" name="Google Shape;332;g409d9cb7e7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g409d9cb7e79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409d96ae0ac_1_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g409d96ae0ac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42" name="Google Shape;342;g409d96ae0ac_1_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409d9cb7e79_3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409d9cb7e79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g409d9cb7e79_3_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b5b8e4078_0_817:notes"/>
          <p:cNvSpPr/>
          <p:nvPr>
            <p:ph idx="2" type="sldImg"/>
          </p:nvPr>
        </p:nvSpPr>
        <p:spPr>
          <a:xfrm>
            <a:off x="1371545" y="857273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fb5b8e4078_0_817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g3fb5b8e4078_0_817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fb5b8e4078_0_847:notes"/>
          <p:cNvSpPr/>
          <p:nvPr>
            <p:ph idx="2" type="sldImg"/>
          </p:nvPr>
        </p:nvSpPr>
        <p:spPr>
          <a:xfrm>
            <a:off x="1371545" y="857273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g3fb5b8e4078_0_847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3fb5b8e4078_0_847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fb5c7ba911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g3fb5c7ba911_1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fb5c7ba911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fb5c7ba911_1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b5b8e407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g3fb5b8e4078_0_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fb5c7ba911_1_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fb5c7ba911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g3fb5c7ba911_1_1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3fb5b8e4078_0_714:notes"/>
          <p:cNvSpPr/>
          <p:nvPr>
            <p:ph idx="2" type="sldImg"/>
          </p:nvPr>
        </p:nvSpPr>
        <p:spPr>
          <a:xfrm>
            <a:off x="1371545" y="857273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3" name="Google Shape;633;g3fb5b8e4078_0_714:notes"/>
          <p:cNvSpPr txBox="1"/>
          <p:nvPr>
            <p:ph idx="1" type="body"/>
          </p:nvPr>
        </p:nvSpPr>
        <p:spPr>
          <a:xfrm>
            <a:off x="685800" y="3300500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g3fb5b8e4078_0_714:notes"/>
          <p:cNvSpPr txBox="1"/>
          <p:nvPr>
            <p:ph idx="12" type="sldNum"/>
          </p:nvPr>
        </p:nvSpPr>
        <p:spPr>
          <a:xfrm>
            <a:off x="3884613" y="6514083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409ea9d7f65_12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g409ea9d7f65_12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hyperlink" Target="https://docs.google.com/document/d/1slMnq2REo819l99g0l9u2cc_DNkMX9iH/edit?usp=sharing&amp;ouid=108306248858186367186&amp;rtpof=true&amp;sd=true" TargetMode="External"/><Relationship Id="rId10" Type="http://schemas.openxmlformats.org/officeDocument/2006/relationships/hyperlink" Target="https://docs.google.com/spreadsheets/d/1KK9QVed8tjJ0iUWpK6J79DKhn2-clUrn/edit?usp=sharing&amp;ouid=118345471211534438200&amp;rtpof=true&amp;sd=true" TargetMode="External"/><Relationship Id="rId12" Type="http://schemas.openxmlformats.org/officeDocument/2006/relationships/hyperlink" Target="https://docs.google.com/document/d/1w2YdpzxIYiACb05ci5-7Hclnut7Z29js5p5UJ3nF1Yk/edit?usp=sharing" TargetMode="Externa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hyperlink" Target="https://docs.google.com/spreadsheets/d/1tvbRtaNtG85aXUxDaOfGn3Ppb75vaRQX/edit?usp=sharing&amp;ouid=110578483914421943443&amp;rtpof=true&amp;sd=tru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9" Type="http://schemas.openxmlformats.org/officeDocument/2006/relationships/hyperlink" Target="https://docs.google.com/spreadsheets/d/1KK9QVed8tjJ0iUWpK6J79DKhn2-clUrn/edit?gid=4280753#gid=4280753" TargetMode="External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Relationship Id="rId4" Type="http://schemas.openxmlformats.org/officeDocument/2006/relationships/hyperlink" Target="https://docs.google.com/spreadsheets/d/1tvbRtaNtG85aXUxDaOfGn3Ppb75vaRQX/edit?gid=2109092264#gid=2109092264" TargetMode="External"/><Relationship Id="rId5" Type="http://schemas.openxmlformats.org/officeDocument/2006/relationships/image" Target="../media/image2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hyperlink" Target="https://docs.google.com/spreadsheets/d/1tvbRtaNtG85aXUxDaOfGn3Ppb75vaRQX/edit?gid=2109092264#gid=2109092264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Relationship Id="rId4" Type="http://schemas.openxmlformats.org/officeDocument/2006/relationships/image" Target="../media/image3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6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6.png"/><Relationship Id="rId4" Type="http://schemas.openxmlformats.org/officeDocument/2006/relationships/image" Target="../media/image46.png"/><Relationship Id="rId5" Type="http://schemas.openxmlformats.org/officeDocument/2006/relationships/image" Target="../media/image43.png"/><Relationship Id="rId6" Type="http://schemas.openxmlformats.org/officeDocument/2006/relationships/image" Target="../media/image3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5" Type="http://schemas.openxmlformats.org/officeDocument/2006/relationships/image" Target="../media/image50.png"/><Relationship Id="rId6" Type="http://schemas.openxmlformats.org/officeDocument/2006/relationships/image" Target="../media/image51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 txBox="1"/>
          <p:nvPr>
            <p:ph type="ctrTitle"/>
          </p:nvPr>
        </p:nvSpPr>
        <p:spPr>
          <a:xfrm>
            <a:off x="866200" y="1095400"/>
            <a:ext cx="7772400" cy="29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t/>
            </a:r>
            <a:endParaRPr b="1" sz="34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400">
                <a:latin typeface="Noto Sans KR"/>
                <a:ea typeface="Noto Sans KR"/>
                <a:cs typeface="Noto Sans KR"/>
                <a:sym typeface="Noto Sans KR"/>
              </a:rPr>
              <a:t>유저 QnA 기반 캠프 추천</a:t>
            </a:r>
            <a:endParaRPr b="1" sz="34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400">
                <a:latin typeface="Noto Sans KR"/>
                <a:ea typeface="Noto Sans KR"/>
                <a:cs typeface="Noto Sans KR"/>
                <a:sym typeface="Noto Sans KR"/>
              </a:rPr>
              <a:t>업무 프로세스 분석 및 자동화 정의</a:t>
            </a:r>
            <a:endParaRPr b="1" sz="34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t/>
            </a:r>
            <a:endParaRPr b="1" sz="151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3" name="Google Shape;93;p1"/>
          <p:cNvSpPr txBox="1"/>
          <p:nvPr>
            <p:ph idx="1" type="subTitle"/>
          </p:nvPr>
        </p:nvSpPr>
        <p:spPr>
          <a:xfrm>
            <a:off x="1371601" y="4089400"/>
            <a:ext cx="6847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2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ko-KR" sz="2200">
                <a:latin typeface="Noto Sans KR"/>
                <a:ea typeface="Noto Sans KR"/>
                <a:cs typeface="Noto Sans KR"/>
                <a:sym typeface="Noto Sans KR"/>
              </a:rPr>
              <a:t>AX2팀 (김은성, 정혜연, 현우진, 박은향)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234450" y="3243575"/>
            <a:ext cx="7035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500">
                <a:solidFill>
                  <a:srgbClr val="64748B"/>
                </a:solidFill>
                <a:highlight>
                  <a:srgbClr val="FFFFFF"/>
                </a:highlight>
              </a:rPr>
              <a:t>생성형 AI를 통한 유저 페인포인트 분석과 최적의 교육 캠프 매칭 프로세스 구축 방안</a:t>
            </a:r>
            <a:r>
              <a:rPr lang="ko-KR" sz="11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g409ea9d7f65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0075" y="1191000"/>
            <a:ext cx="1573775" cy="508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g409ea9d7f65_0_29"/>
          <p:cNvSpPr/>
          <p:nvPr/>
        </p:nvSpPr>
        <p:spPr>
          <a:xfrm>
            <a:off x="2123350" y="3650600"/>
            <a:ext cx="1267500" cy="789300"/>
          </a:xfrm>
          <a:prstGeom prst="roundRect">
            <a:avLst>
              <a:gd fmla="val 16667" name="adj"/>
            </a:avLst>
          </a:prstGeom>
          <a:solidFill>
            <a:srgbClr val="F6F9FA"/>
          </a:solidFill>
          <a:ln cap="flat" cmpd="sng" w="9525">
            <a:solidFill>
              <a:srgbClr val="EE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g409ea9d7f65_0_29"/>
          <p:cNvSpPr/>
          <p:nvPr/>
        </p:nvSpPr>
        <p:spPr>
          <a:xfrm>
            <a:off x="2123350" y="4646600"/>
            <a:ext cx="1267500" cy="1415100"/>
          </a:xfrm>
          <a:prstGeom prst="roundRect">
            <a:avLst>
              <a:gd fmla="val 16667" name="adj"/>
            </a:avLst>
          </a:prstGeom>
          <a:solidFill>
            <a:srgbClr val="EBF5FD"/>
          </a:solidFill>
          <a:ln cap="flat" cmpd="sng" w="9525">
            <a:solidFill>
              <a:srgbClr val="CCE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3" name="Google Shape;103;g409ea9d7f65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1550" y="1174725"/>
            <a:ext cx="1574000" cy="508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409ea9d7f65_0_29"/>
          <p:cNvSpPr/>
          <p:nvPr/>
        </p:nvSpPr>
        <p:spPr>
          <a:xfrm>
            <a:off x="7574950" y="3824850"/>
            <a:ext cx="1267500" cy="2236800"/>
          </a:xfrm>
          <a:prstGeom prst="roundRect">
            <a:avLst>
              <a:gd fmla="val 16667" name="adj"/>
            </a:avLst>
          </a:prstGeom>
          <a:solidFill>
            <a:srgbClr val="EBF5FD"/>
          </a:solidFill>
          <a:ln cap="flat" cmpd="sng" w="9525">
            <a:solidFill>
              <a:srgbClr val="CCE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5" name="Google Shape;105;g409ea9d7f65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400" y="1191025"/>
            <a:ext cx="1573775" cy="50802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g409ea9d7f65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3052" y="3989321"/>
            <a:ext cx="86629" cy="114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409ea9d7f65_0_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3250" y="1174750"/>
            <a:ext cx="1574000" cy="50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409ea9d7f65_0_29"/>
          <p:cNvSpPr/>
          <p:nvPr/>
        </p:nvSpPr>
        <p:spPr>
          <a:xfrm>
            <a:off x="5756400" y="3874675"/>
            <a:ext cx="1267500" cy="2187000"/>
          </a:xfrm>
          <a:prstGeom prst="roundRect">
            <a:avLst>
              <a:gd fmla="val 16667" name="adj"/>
            </a:avLst>
          </a:prstGeom>
          <a:solidFill>
            <a:srgbClr val="EBF5FD"/>
          </a:solidFill>
          <a:ln cap="flat" cmpd="sng" w="9525">
            <a:solidFill>
              <a:srgbClr val="CCE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9" name="Google Shape;109;g409ea9d7f65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7780" y="3988801"/>
            <a:ext cx="86629" cy="1149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409ea9d7f65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5000" y="1191000"/>
            <a:ext cx="1573750" cy="5080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g409ea9d7f65_0_29"/>
          <p:cNvSpPr txBox="1"/>
          <p:nvPr/>
        </p:nvSpPr>
        <p:spPr>
          <a:xfrm>
            <a:off x="301005" y="1445035"/>
            <a:ext cx="1268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95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STEP 01</a:t>
            </a:r>
            <a:endParaRPr sz="1161"/>
          </a:p>
        </p:txBody>
      </p:sp>
      <p:sp>
        <p:nvSpPr>
          <p:cNvPr id="112" name="Google Shape;112;g409ea9d7f65_0_29"/>
          <p:cNvSpPr txBox="1"/>
          <p:nvPr/>
        </p:nvSpPr>
        <p:spPr>
          <a:xfrm>
            <a:off x="301005" y="1794154"/>
            <a:ext cx="13314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68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과제 분석</a:t>
            </a:r>
            <a:endParaRPr sz="1161"/>
          </a:p>
        </p:txBody>
      </p:sp>
      <p:sp>
        <p:nvSpPr>
          <p:cNvPr id="113" name="Google Shape;113;g409ea9d7f65_0_29"/>
          <p:cNvSpPr txBox="1"/>
          <p:nvPr/>
        </p:nvSpPr>
        <p:spPr>
          <a:xfrm>
            <a:off x="301005" y="2251334"/>
            <a:ext cx="1268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3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과업의 요청 사항을 명확하게 이해하고 자동화 방향성을 설정합니다.</a:t>
            </a:r>
            <a:endParaRPr sz="1161"/>
          </a:p>
        </p:txBody>
      </p:sp>
      <p:sp>
        <p:nvSpPr>
          <p:cNvPr id="114" name="Google Shape;114;g409ea9d7f65_0_29"/>
          <p:cNvSpPr txBox="1"/>
          <p:nvPr/>
        </p:nvSpPr>
        <p:spPr>
          <a:xfrm>
            <a:off x="2119379" y="1445035"/>
            <a:ext cx="1268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9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STEP 02</a:t>
            </a:r>
            <a:endParaRPr sz="1161"/>
          </a:p>
        </p:txBody>
      </p:sp>
      <p:sp>
        <p:nvSpPr>
          <p:cNvPr id="115" name="Google Shape;115;g409ea9d7f65_0_29"/>
          <p:cNvSpPr txBox="1"/>
          <p:nvPr/>
        </p:nvSpPr>
        <p:spPr>
          <a:xfrm>
            <a:off x="2119379" y="1794154"/>
            <a:ext cx="13314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68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계획 수립</a:t>
            </a:r>
            <a:endParaRPr sz="1161"/>
          </a:p>
        </p:txBody>
      </p:sp>
      <p:sp>
        <p:nvSpPr>
          <p:cNvPr id="116" name="Google Shape;116;g409ea9d7f65_0_29"/>
          <p:cNvSpPr txBox="1"/>
          <p:nvPr/>
        </p:nvSpPr>
        <p:spPr>
          <a:xfrm>
            <a:off x="2119379" y="2251334"/>
            <a:ext cx="1268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3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과업 해결을 위해 인터뷰 등 실천 가능한 세부 일정을 수립합니다.</a:t>
            </a:r>
            <a:endParaRPr sz="1161"/>
          </a:p>
        </p:txBody>
      </p:sp>
      <p:sp>
        <p:nvSpPr>
          <p:cNvPr id="117" name="Google Shape;117;g409ea9d7f65_0_29"/>
          <p:cNvSpPr/>
          <p:nvPr/>
        </p:nvSpPr>
        <p:spPr>
          <a:xfrm>
            <a:off x="3788076" y="3321759"/>
            <a:ext cx="1574100" cy="56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37875" lIns="75800" spcFirstLastPara="1" rIns="75800" wrap="square" tIns="37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g409ea9d7f65_0_29"/>
          <p:cNvSpPr txBox="1"/>
          <p:nvPr/>
        </p:nvSpPr>
        <p:spPr>
          <a:xfrm>
            <a:off x="3937754" y="1445035"/>
            <a:ext cx="1268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95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STEP 03</a:t>
            </a:r>
            <a:endParaRPr sz="1161"/>
          </a:p>
        </p:txBody>
      </p:sp>
      <p:sp>
        <p:nvSpPr>
          <p:cNvPr id="119" name="Google Shape;119;g409ea9d7f65_0_29"/>
          <p:cNvSpPr txBox="1"/>
          <p:nvPr/>
        </p:nvSpPr>
        <p:spPr>
          <a:xfrm>
            <a:off x="3937754" y="1794154"/>
            <a:ext cx="13314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68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사전조사</a:t>
            </a:r>
            <a:endParaRPr sz="1161"/>
          </a:p>
        </p:txBody>
      </p:sp>
      <p:sp>
        <p:nvSpPr>
          <p:cNvPr id="120" name="Google Shape;120;g409ea9d7f65_0_29"/>
          <p:cNvSpPr txBox="1"/>
          <p:nvPr/>
        </p:nvSpPr>
        <p:spPr>
          <a:xfrm>
            <a:off x="3937754" y="2251334"/>
            <a:ext cx="12684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3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타사 부트캠프 진행 방식을 </a:t>
            </a:r>
            <a:r>
              <a:rPr lang="ko-KR" sz="933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조사 밑 분석</a:t>
            </a:r>
            <a:r>
              <a:rPr b="0" i="0" lang="ko-KR" sz="933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하여 과업 시사점을 도출합니다.</a:t>
            </a:r>
            <a:endParaRPr sz="1161"/>
          </a:p>
        </p:txBody>
      </p:sp>
      <p:sp>
        <p:nvSpPr>
          <p:cNvPr id="121" name="Google Shape;121;g409ea9d7f65_0_29"/>
          <p:cNvSpPr/>
          <p:nvPr/>
        </p:nvSpPr>
        <p:spPr>
          <a:xfrm>
            <a:off x="5606451" y="3321759"/>
            <a:ext cx="1574100" cy="56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7875" lIns="75800" spcFirstLastPara="1" rIns="75800" wrap="square" tIns="37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409ea9d7f65_0_29"/>
          <p:cNvSpPr txBox="1"/>
          <p:nvPr/>
        </p:nvSpPr>
        <p:spPr>
          <a:xfrm>
            <a:off x="5756129" y="1445035"/>
            <a:ext cx="1268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95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STEP 04</a:t>
            </a:r>
            <a:endParaRPr sz="1161"/>
          </a:p>
        </p:txBody>
      </p:sp>
      <p:sp>
        <p:nvSpPr>
          <p:cNvPr id="123" name="Google Shape;123;g409ea9d7f65_0_29"/>
          <p:cNvSpPr txBox="1"/>
          <p:nvPr/>
        </p:nvSpPr>
        <p:spPr>
          <a:xfrm>
            <a:off x="5756129" y="1794154"/>
            <a:ext cx="13314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68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실행 / 과업수행</a:t>
            </a:r>
            <a:endParaRPr sz="1161"/>
          </a:p>
        </p:txBody>
      </p:sp>
      <p:sp>
        <p:nvSpPr>
          <p:cNvPr id="124" name="Google Shape;124;g409ea9d7f65_0_29"/>
          <p:cNvSpPr txBox="1"/>
          <p:nvPr/>
        </p:nvSpPr>
        <p:spPr>
          <a:xfrm>
            <a:off x="5756129" y="2251334"/>
            <a:ext cx="1268400" cy="5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3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유저의 고민을 분석하고 적합한 캠프를 탐색하는 과정을 구체화합니다.</a:t>
            </a:r>
            <a:endParaRPr sz="1161"/>
          </a:p>
        </p:txBody>
      </p:sp>
      <p:sp>
        <p:nvSpPr>
          <p:cNvPr id="125" name="Google Shape;125;g409ea9d7f65_0_29"/>
          <p:cNvSpPr/>
          <p:nvPr/>
        </p:nvSpPr>
        <p:spPr>
          <a:xfrm>
            <a:off x="7424826" y="3321759"/>
            <a:ext cx="1574100" cy="56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37875" lIns="75800" spcFirstLastPara="1" rIns="75800" wrap="square" tIns="37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409ea9d7f65_0_29"/>
          <p:cNvSpPr txBox="1"/>
          <p:nvPr/>
        </p:nvSpPr>
        <p:spPr>
          <a:xfrm>
            <a:off x="7574503" y="1445035"/>
            <a:ext cx="12684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95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STEP 05</a:t>
            </a:r>
            <a:endParaRPr sz="1161"/>
          </a:p>
        </p:txBody>
      </p:sp>
      <p:sp>
        <p:nvSpPr>
          <p:cNvPr id="127" name="Google Shape;127;g409ea9d7f65_0_29"/>
          <p:cNvSpPr txBox="1"/>
          <p:nvPr/>
        </p:nvSpPr>
        <p:spPr>
          <a:xfrm>
            <a:off x="7574503" y="1794154"/>
            <a:ext cx="1331400" cy="2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68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보고자료 작성</a:t>
            </a:r>
            <a:endParaRPr sz="1161"/>
          </a:p>
        </p:txBody>
      </p:sp>
      <p:sp>
        <p:nvSpPr>
          <p:cNvPr id="128" name="Google Shape;128;g409ea9d7f65_0_29"/>
          <p:cNvSpPr txBox="1"/>
          <p:nvPr/>
        </p:nvSpPr>
        <p:spPr>
          <a:xfrm>
            <a:off x="7574503" y="2251334"/>
            <a:ext cx="12684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3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앞선 도출 결과를 바탕으로 자동화에 필요한 종합 요구사항을 정리합니다.</a:t>
            </a:r>
            <a:endParaRPr sz="1161"/>
          </a:p>
        </p:txBody>
      </p:sp>
      <p:sp>
        <p:nvSpPr>
          <p:cNvPr id="129" name="Google Shape;129;g409ea9d7f65_0_29"/>
          <p:cNvSpPr txBox="1"/>
          <p:nvPr/>
        </p:nvSpPr>
        <p:spPr>
          <a:xfrm>
            <a:off x="2398325" y="3844151"/>
            <a:ext cx="878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46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참고 자료</a:t>
            </a:r>
            <a:endParaRPr sz="1161"/>
          </a:p>
        </p:txBody>
      </p:sp>
      <p:sp>
        <p:nvSpPr>
          <p:cNvPr id="130" name="Google Shape;130;g409ea9d7f65_0_29"/>
          <p:cNvSpPr txBox="1"/>
          <p:nvPr/>
        </p:nvSpPr>
        <p:spPr>
          <a:xfrm>
            <a:off x="2245398" y="4058367"/>
            <a:ext cx="1023900" cy="1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99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업무 </a:t>
            </a:r>
            <a:r>
              <a:rPr b="1" lang="ko-KR" sz="995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추진</a:t>
            </a:r>
            <a:r>
              <a:rPr b="1" i="0" lang="ko-KR" sz="99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계획서</a:t>
            </a:r>
            <a:endParaRPr sz="1161"/>
          </a:p>
        </p:txBody>
      </p:sp>
      <p:sp>
        <p:nvSpPr>
          <p:cNvPr id="131" name="Google Shape;131;g409ea9d7f65_0_29"/>
          <p:cNvSpPr txBox="1"/>
          <p:nvPr/>
        </p:nvSpPr>
        <p:spPr>
          <a:xfrm>
            <a:off x="6050729" y="3982092"/>
            <a:ext cx="878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46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산출물</a:t>
            </a:r>
            <a:endParaRPr sz="1161"/>
          </a:p>
        </p:txBody>
      </p:sp>
      <p:sp>
        <p:nvSpPr>
          <p:cNvPr id="132" name="Google Shape;132;g409ea9d7f65_0_29"/>
          <p:cNvSpPr txBox="1"/>
          <p:nvPr/>
        </p:nvSpPr>
        <p:spPr>
          <a:xfrm>
            <a:off x="5905576" y="4300425"/>
            <a:ext cx="1119000" cy="12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95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프로세스 정의</a:t>
            </a:r>
            <a:br>
              <a:rPr b="0" i="0" lang="ko-KR" sz="149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</a:t>
            </a: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고민 분석 </a:t>
            </a:r>
            <a:r>
              <a:rPr b="0" i="0" lang="ko-KR" sz="99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endParaRPr b="0" i="0" sz="995" u="none" cap="none" strike="noStrike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9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➔ </a:t>
            </a: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정보 추출 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➔ 캠프 탐색 및 비교 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➔ 추천 결과 도출</a:t>
            </a:r>
            <a:endParaRPr b="1"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95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인터뷰</a:t>
            </a:r>
            <a:endParaRPr b="1" sz="995">
              <a:solidFill>
                <a:srgbClr val="1D4ED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QnA 담당자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부트캠프 담당자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g409ea9d7f65_0_29"/>
          <p:cNvSpPr txBox="1"/>
          <p:nvPr/>
        </p:nvSpPr>
        <p:spPr>
          <a:xfrm>
            <a:off x="7856062" y="4001548"/>
            <a:ext cx="878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46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산출물</a:t>
            </a:r>
            <a:endParaRPr sz="1161"/>
          </a:p>
        </p:txBody>
      </p:sp>
      <p:sp>
        <p:nvSpPr>
          <p:cNvPr id="134" name="Google Shape;134;g409ea9d7f65_0_29"/>
          <p:cNvSpPr txBox="1"/>
          <p:nvPr/>
        </p:nvSpPr>
        <p:spPr>
          <a:xfrm>
            <a:off x="7686475" y="4283100"/>
            <a:ext cx="11190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95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업무 보고서</a:t>
            </a:r>
            <a:br>
              <a:rPr b="0" i="0" lang="ko-KR" sz="149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</a:t>
            </a: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생성형 AI 활용 가능 영역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필요 데이터 및 판단기준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검토·판단 부분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</a:t>
            </a: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다음단계에서 구현 할 주요 기능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35" name="Google Shape;135;g409ea9d7f65_0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73052" y="3206141"/>
            <a:ext cx="115505" cy="279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409ea9d7f65_0_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241618" y="3873487"/>
            <a:ext cx="86629" cy="1056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409ea9d7f65_0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05063" y="3191686"/>
            <a:ext cx="115505" cy="279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409ea9d7f65_0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23278" y="3206141"/>
            <a:ext cx="115505" cy="279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409ea9d7f65_0_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41793" y="3191686"/>
            <a:ext cx="115505" cy="27923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409ea9d7f65_0_29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1주차 업무 진행 과정</a:t>
            </a:r>
            <a:endParaRPr sz="1100"/>
          </a:p>
        </p:txBody>
      </p:sp>
      <p:sp>
        <p:nvSpPr>
          <p:cNvPr id="141" name="Google Shape;141;g409ea9d7f65_0_29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g409ea9d7f65_0_29"/>
          <p:cNvSpPr txBox="1"/>
          <p:nvPr/>
        </p:nvSpPr>
        <p:spPr>
          <a:xfrm>
            <a:off x="359375" y="714792"/>
            <a:ext cx="4915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과제 분석부터 최종 요구사항 정의까지, 5단계 핵심 수행 과정 및 단계별 산출물 요약</a:t>
            </a:r>
            <a:endParaRPr sz="1100"/>
          </a:p>
        </p:txBody>
      </p:sp>
      <p:sp>
        <p:nvSpPr>
          <p:cNvPr id="143" name="Google Shape;143;g409ea9d7f65_0_29"/>
          <p:cNvSpPr/>
          <p:nvPr/>
        </p:nvSpPr>
        <p:spPr>
          <a:xfrm>
            <a:off x="159119" y="3319575"/>
            <a:ext cx="1574100" cy="56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37875" lIns="75800" spcFirstLastPara="1" rIns="75800" wrap="square" tIns="37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g409ea9d7f65_0_29"/>
          <p:cNvSpPr/>
          <p:nvPr/>
        </p:nvSpPr>
        <p:spPr>
          <a:xfrm>
            <a:off x="292025" y="3652829"/>
            <a:ext cx="1267500" cy="714300"/>
          </a:xfrm>
          <a:prstGeom prst="roundRect">
            <a:avLst>
              <a:gd fmla="val 16667" name="adj"/>
            </a:avLst>
          </a:prstGeom>
          <a:solidFill>
            <a:srgbClr val="F6F9FA"/>
          </a:solidFill>
          <a:ln cap="flat" cmpd="sng" w="9525">
            <a:solidFill>
              <a:srgbClr val="EEF0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5" name="Google Shape;145;g409ea9d7f65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41625" y="4805442"/>
            <a:ext cx="86629" cy="11492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409ea9d7f65_0_29"/>
          <p:cNvSpPr txBox="1"/>
          <p:nvPr/>
        </p:nvSpPr>
        <p:spPr>
          <a:xfrm>
            <a:off x="2359074" y="4806779"/>
            <a:ext cx="878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46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산출물</a:t>
            </a:r>
            <a:endParaRPr sz="1161"/>
          </a:p>
        </p:txBody>
      </p:sp>
      <p:grpSp>
        <p:nvGrpSpPr>
          <p:cNvPr id="147" name="Google Shape;147;g409ea9d7f65_0_29"/>
          <p:cNvGrpSpPr/>
          <p:nvPr/>
        </p:nvGrpSpPr>
        <p:grpSpPr>
          <a:xfrm>
            <a:off x="456848" y="3806120"/>
            <a:ext cx="1023900" cy="483571"/>
            <a:chOff x="464435" y="4622819"/>
            <a:chExt cx="1023900" cy="273745"/>
          </a:xfrm>
        </p:grpSpPr>
        <p:sp>
          <p:nvSpPr>
            <p:cNvPr id="148" name="Google Shape;148;g409ea9d7f65_0_29"/>
            <p:cNvSpPr txBox="1"/>
            <p:nvPr/>
          </p:nvSpPr>
          <p:spPr>
            <a:xfrm>
              <a:off x="592237" y="4622819"/>
              <a:ext cx="878700" cy="6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746" u="none" cap="none" strike="noStrike">
                  <a:solidFill>
                    <a:srgbClr val="64748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참고 자료</a:t>
              </a:r>
              <a:endParaRPr sz="1161"/>
            </a:p>
          </p:txBody>
        </p:sp>
        <p:sp>
          <p:nvSpPr>
            <p:cNvPr id="149" name="Google Shape;149;g409ea9d7f65_0_29"/>
            <p:cNvSpPr txBox="1"/>
            <p:nvPr/>
          </p:nvSpPr>
          <p:spPr>
            <a:xfrm>
              <a:off x="464435" y="4710265"/>
              <a:ext cx="1023900" cy="18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ko-KR" sz="995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업무 </a:t>
              </a:r>
              <a:r>
                <a:rPr b="1" lang="ko-KR" sz="995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요청</a:t>
              </a:r>
              <a:r>
                <a:rPr b="1" i="0" lang="ko-KR" sz="995" u="none" cap="none" strike="noStrike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서</a:t>
              </a:r>
              <a:br>
                <a:rPr b="1" lang="ko-KR" sz="995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</a:br>
              <a:r>
                <a:rPr b="1" lang="ko-KR" sz="995">
                  <a:solidFill>
                    <a:srgbClr val="1E293B"/>
                  </a:solidFill>
                  <a:latin typeface="Noto Sans KR"/>
                  <a:ea typeface="Noto Sans KR"/>
                  <a:cs typeface="Noto Sans KR"/>
                  <a:sym typeface="Noto Sans KR"/>
                </a:rPr>
                <a:t>QnA 샘플 데이터</a:t>
              </a:r>
              <a:endParaRPr b="1" sz="995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endParaRPr>
            </a:p>
          </p:txBody>
        </p:sp>
      </p:grpSp>
      <p:sp>
        <p:nvSpPr>
          <p:cNvPr id="150" name="Google Shape;150;g409ea9d7f65_0_29"/>
          <p:cNvSpPr/>
          <p:nvPr/>
        </p:nvSpPr>
        <p:spPr>
          <a:xfrm>
            <a:off x="3938050" y="3874725"/>
            <a:ext cx="1267500" cy="2187000"/>
          </a:xfrm>
          <a:prstGeom prst="roundRect">
            <a:avLst>
              <a:gd fmla="val 16667" name="adj"/>
            </a:avLst>
          </a:prstGeom>
          <a:solidFill>
            <a:srgbClr val="EBF5FD"/>
          </a:solidFill>
          <a:ln cap="flat" cmpd="sng" w="9525">
            <a:solidFill>
              <a:srgbClr val="CCE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1" name="Google Shape;151;g409ea9d7f65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86027" y="3980594"/>
            <a:ext cx="86629" cy="114929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409ea9d7f65_0_29"/>
          <p:cNvSpPr txBox="1"/>
          <p:nvPr/>
        </p:nvSpPr>
        <p:spPr>
          <a:xfrm>
            <a:off x="4229037" y="3992822"/>
            <a:ext cx="878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46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산출물</a:t>
            </a:r>
            <a:endParaRPr sz="1161"/>
          </a:p>
        </p:txBody>
      </p:sp>
      <p:sp>
        <p:nvSpPr>
          <p:cNvPr id="153" name="Google Shape;153;g409ea9d7f65_0_29"/>
          <p:cNvSpPr txBox="1"/>
          <p:nvPr/>
        </p:nvSpPr>
        <p:spPr>
          <a:xfrm>
            <a:off x="4083872" y="4304813"/>
            <a:ext cx="1023900" cy="5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95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타 부트캠프 사이트 분석표</a:t>
            </a:r>
            <a:br>
              <a:rPr b="0" i="0" lang="ko-KR" sz="149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</a:t>
            </a: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커뮤니티 유형/ 부트캠프 연결 분석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54" name="Google Shape;154;g409ea9d7f65_0_29"/>
          <p:cNvSpPr txBox="1"/>
          <p:nvPr/>
        </p:nvSpPr>
        <p:spPr>
          <a:xfrm>
            <a:off x="2211795" y="5086657"/>
            <a:ext cx="10239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995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인터뷰 준비</a:t>
            </a:r>
            <a:br>
              <a:rPr b="0" i="0" lang="ko-KR" sz="1492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</a:t>
            </a: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목록화/일정 조율</a:t>
            </a:r>
            <a:endParaRPr sz="1161"/>
          </a:p>
        </p:txBody>
      </p:sp>
      <p:pic>
        <p:nvPicPr>
          <p:cNvPr id="155" name="Google Shape;155;g409ea9d7f65_0_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5518" y="3821491"/>
            <a:ext cx="86629" cy="10568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409ea9d7f65_0_29"/>
          <p:cNvSpPr/>
          <p:nvPr/>
        </p:nvSpPr>
        <p:spPr>
          <a:xfrm>
            <a:off x="288375" y="4542700"/>
            <a:ext cx="1267500" cy="1518900"/>
          </a:xfrm>
          <a:prstGeom prst="roundRect">
            <a:avLst>
              <a:gd fmla="val 16667" name="adj"/>
            </a:avLst>
          </a:prstGeom>
          <a:solidFill>
            <a:srgbClr val="EBF5FD"/>
          </a:solidFill>
          <a:ln cap="flat" cmpd="sng" w="9525">
            <a:solidFill>
              <a:srgbClr val="CCE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57" name="Google Shape;157;g409ea9d7f65_0_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6650" y="4597846"/>
            <a:ext cx="86629" cy="11492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409ea9d7f65_0_29"/>
          <p:cNvSpPr txBox="1"/>
          <p:nvPr/>
        </p:nvSpPr>
        <p:spPr>
          <a:xfrm>
            <a:off x="524099" y="4599183"/>
            <a:ext cx="878700" cy="1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746" u="none" cap="none" strike="noStrik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산출물</a:t>
            </a:r>
            <a:endParaRPr sz="1161"/>
          </a:p>
        </p:txBody>
      </p:sp>
      <p:sp>
        <p:nvSpPr>
          <p:cNvPr id="159" name="Google Shape;159;g409ea9d7f65_0_29"/>
          <p:cNvSpPr txBox="1"/>
          <p:nvPr/>
        </p:nvSpPr>
        <p:spPr>
          <a:xfrm>
            <a:off x="376825" y="4805800"/>
            <a:ext cx="11190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-KR" sz="995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직무부트캠프 데이터 유형화 </a:t>
            </a:r>
            <a:br>
              <a:rPr lang="ko-KR" sz="14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캠프 분석 ➔ 키워드 추출</a:t>
            </a:r>
            <a:endParaRPr sz="99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-KR" sz="995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유저QnA 데이터 유형화 </a:t>
            </a:r>
            <a:endParaRPr b="1" sz="995">
              <a:solidFill>
                <a:srgbClr val="1D4ED8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sz="99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– 고민 분석 ➔ 결과 도출</a:t>
            </a:r>
            <a:endParaRPr b="1" sz="995">
              <a:solidFill>
                <a:srgbClr val="1D4ED8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60" name="Google Shape;160;g409ea9d7f65_0_29">
            <a:hlinkClick r:id="rId8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77265" y="4946113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g409ea9d7f65_0_29">
            <a:hlinkClick r:id="rId10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77265" y="5425788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409ea9d7f65_0_29">
            <a:hlinkClick r:id="rId11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141714" y="4045050"/>
            <a:ext cx="153000" cy="1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409ea9d7f65_0_29">
            <a:hlinkClick r:id="rId12"/>
          </p:cNvPr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76710" y="5145639"/>
            <a:ext cx="153000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409ea9d7f65_0_29"/>
          <p:cNvSpPr/>
          <p:nvPr/>
        </p:nvSpPr>
        <p:spPr>
          <a:xfrm>
            <a:off x="1956598" y="3321159"/>
            <a:ext cx="1574100" cy="567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37875" lIns="75800" spcFirstLastPara="1" rIns="75800" wrap="square" tIns="37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92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409ea9d7f65_1_1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900" y="5468300"/>
            <a:ext cx="8906199" cy="1012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409ea9d7f65_1_199"/>
          <p:cNvSpPr txBox="1"/>
          <p:nvPr/>
        </p:nvSpPr>
        <p:spPr>
          <a:xfrm>
            <a:off x="302225" y="183350"/>
            <a:ext cx="8438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사전조사 - 타사 부트캠프 조사 및 분석</a:t>
            </a:r>
            <a:endParaRPr sz="1100"/>
          </a:p>
        </p:txBody>
      </p:sp>
      <p:sp>
        <p:nvSpPr>
          <p:cNvPr id="172" name="Google Shape;172;g409ea9d7f65_1_199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409ea9d7f65_1_199"/>
          <p:cNvSpPr txBox="1"/>
          <p:nvPr/>
        </p:nvSpPr>
        <p:spPr>
          <a:xfrm>
            <a:off x="359375" y="714800"/>
            <a:ext cx="570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교육 및 취업 플랫폼 5개사의 커뮤니티 운영 현황과  부트캠프와 커뮤니티 간  연결 방식 비교</a:t>
            </a:r>
            <a:endParaRPr sz="1100"/>
          </a:p>
        </p:txBody>
      </p:sp>
      <p:graphicFrame>
        <p:nvGraphicFramePr>
          <p:cNvPr id="174" name="Google Shape;174;g409ea9d7f65_1_199"/>
          <p:cNvGraphicFramePr/>
          <p:nvPr/>
        </p:nvGraphicFramePr>
        <p:xfrm>
          <a:off x="118900" y="94916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{A9A987C8-4B4C-4435-97A4-3E4B7B9A9D6B}</a:tableStyleId>
              </a:tblPr>
              <a:tblGrid>
                <a:gridCol w="1461025"/>
                <a:gridCol w="1320325"/>
                <a:gridCol w="1608425"/>
                <a:gridCol w="3579500"/>
                <a:gridCol w="936925"/>
              </a:tblGrid>
              <a:tr h="69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플랫폼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커뮤니티 유무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커뮤니티 유형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부트캠프 ↔ 커뮤니티 연결 방식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연결 강도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9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코멘토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1056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QnA 중심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(현직자 인증 기반)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QnA 피드 사이에 부트캠프 추천 카드 삽입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(광고 또는 AI 추천 형태의 코멘토핏)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중간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코드잇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1056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플랫폼 내 연결 없음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(디스코드 등 자체 내부 외부 툴 활용)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내일배움캠프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(스파르타코딩클럽)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1056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플랫폼 내 연결 없음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(수강생 전용 슬랙, 노션 등 외부 툴 활용)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12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패스트캠퍼스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1056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게시판형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(카테고리 분류 구조)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인증 </a:t>
                      </a:r>
                      <a:r>
                        <a:rPr lang="ko-KR" sz="1275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이후</a:t>
                      </a: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게시판 </a:t>
                      </a:r>
                      <a:r>
                        <a:rPr lang="ko-KR" sz="1275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참여가능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</a:t>
                      </a:r>
                      <a:r>
                        <a:rPr lang="ko-KR" sz="1275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강의 질문은 수강 중인 강의에 귀속되는 구조/ 스터디 모집 게시판으로 수강생 간 자발적 연결 유도</a:t>
                      </a: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높음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691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링커리어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5400" marB="25400" marR="63500" marL="10568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취업 정보 중심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(각종 랭킹 및 토론형)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직접적인 연결 구조 없음</a:t>
                      </a: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75" u="none" cap="none" strike="noStrik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(외부 부트캠프 공고를 취업 정보처럼 노출)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75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낮음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175" name="Google Shape;175;g409ea9d7f65_1_199"/>
          <p:cNvSpPr/>
          <p:nvPr/>
        </p:nvSpPr>
        <p:spPr>
          <a:xfrm flipH="1" rot="10800000">
            <a:off x="118950" y="1615822"/>
            <a:ext cx="8906100" cy="24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g409ea9d7f65_1_199"/>
          <p:cNvSpPr txBox="1"/>
          <p:nvPr/>
        </p:nvSpPr>
        <p:spPr>
          <a:xfrm>
            <a:off x="492062" y="5645053"/>
            <a:ext cx="8723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1D4ED8"/>
                </a:solidFill>
              </a:rPr>
              <a:t>패스트캠퍼스</a:t>
            </a:r>
            <a:r>
              <a:rPr b="1" lang="ko-KR" sz="1100">
                <a:solidFill>
                  <a:schemeClr val="dk1"/>
                </a:solidFill>
              </a:rPr>
              <a:t>:</a:t>
            </a:r>
            <a:r>
              <a:rPr lang="ko-KR" sz="1100">
                <a:solidFill>
                  <a:schemeClr val="dk1"/>
                </a:solidFill>
              </a:rPr>
              <a:t> 커뮤니티 활동을 부트캠프 참여자만 사용 가능하게 해 연결 강도 높음으로 측정했습니다.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77" name="Google Shape;177;g409ea9d7f65_1_199"/>
          <p:cNvSpPr txBox="1"/>
          <p:nvPr/>
        </p:nvSpPr>
        <p:spPr>
          <a:xfrm>
            <a:off x="492058" y="5950209"/>
            <a:ext cx="8381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1D4ED8"/>
                </a:solidFill>
              </a:rPr>
              <a:t>링커리어</a:t>
            </a:r>
            <a:r>
              <a:rPr b="1" lang="ko-KR" sz="1100">
                <a:solidFill>
                  <a:schemeClr val="dk1"/>
                </a:solidFill>
              </a:rPr>
              <a:t>:</a:t>
            </a:r>
            <a:r>
              <a:rPr lang="ko-KR" sz="1100">
                <a:solidFill>
                  <a:schemeClr val="dk1"/>
                </a:solidFill>
              </a:rPr>
              <a:t> 커뮤니티 자체의 활성화 전략(주차별 순위 공지, 스크랩 등)은 매우 뛰어나지만, 정작 교육/부트캠프 전환과의 연결 구조는 약한 편입니다.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78" name="Google Shape;178;g409ea9d7f65_1_1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662" y="5696072"/>
            <a:ext cx="252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409ea9d7f65_1_1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6487" y="3987623"/>
            <a:ext cx="468000" cy="2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409ea9d7f65_1_1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6487" y="4711360"/>
            <a:ext cx="468000" cy="2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g409ea9d7f65_1_1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1227" y="2540148"/>
            <a:ext cx="398520" cy="2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g409ea9d7f65_1_1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01227" y="3263885"/>
            <a:ext cx="398520" cy="29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g409ea9d7f65_1_1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6487" y="1816410"/>
            <a:ext cx="468000" cy="2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751" y="5366590"/>
            <a:ext cx="5391600" cy="920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650" y="3393325"/>
            <a:ext cx="3297000" cy="11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"/>
          <p:cNvSpPr/>
          <p:nvPr/>
        </p:nvSpPr>
        <p:spPr>
          <a:xfrm>
            <a:off x="3617750" y="1451175"/>
            <a:ext cx="5391600" cy="891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28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유저 </a:t>
            </a: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QnA</a:t>
            </a:r>
            <a:r>
              <a:rPr b="1" i="0" lang="ko-KR" sz="285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 데이터 분석 및 유형화 프레임</a:t>
            </a:r>
            <a:endParaRPr sz="1100"/>
          </a:p>
        </p:txBody>
      </p:sp>
      <p:sp>
        <p:nvSpPr>
          <p:cNvPr id="193" name="Google Shape;193;p3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3"/>
          <p:cNvSpPr txBox="1"/>
          <p:nvPr/>
        </p:nvSpPr>
        <p:spPr>
          <a:xfrm>
            <a:off x="359375" y="714792"/>
            <a:ext cx="4915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499건의 QnA 데이터를 바탕으로 도출한 5대 고민 유형 분류 기준</a:t>
            </a:r>
            <a:endParaRPr sz="1100"/>
          </a:p>
        </p:txBody>
      </p:sp>
      <p:sp>
        <p:nvSpPr>
          <p:cNvPr id="195" name="Google Shape;195;p3"/>
          <p:cNvSpPr txBox="1"/>
          <p:nvPr/>
        </p:nvSpPr>
        <p:spPr>
          <a:xfrm>
            <a:off x="159350" y="1150963"/>
            <a:ext cx="3228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1. 데이터 개요 및 선별</a:t>
            </a:r>
            <a:endParaRPr/>
          </a:p>
        </p:txBody>
      </p:sp>
      <p:sp>
        <p:nvSpPr>
          <p:cNvPr id="196" name="Google Shape;196;p3"/>
          <p:cNvSpPr txBox="1"/>
          <p:nvPr/>
        </p:nvSpPr>
        <p:spPr>
          <a:xfrm>
            <a:off x="3617750" y="1132800"/>
            <a:ext cx="539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b="1" lang="ko-KR" sz="1500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QnA</a:t>
            </a:r>
            <a:r>
              <a:rPr b="1" i="0" lang="ko-KR" sz="150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 유형 분류 프레임 (5단계)</a:t>
            </a:r>
            <a:endParaRPr/>
          </a:p>
        </p:txBody>
      </p:sp>
      <p:sp>
        <p:nvSpPr>
          <p:cNvPr id="197" name="Google Shape;197;p3"/>
          <p:cNvSpPr txBox="1"/>
          <p:nvPr/>
        </p:nvSpPr>
        <p:spPr>
          <a:xfrm>
            <a:off x="370500" y="3545975"/>
            <a:ext cx="30174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* 제외 대상(25건) 상세:</a:t>
            </a:r>
            <a:endParaRPr/>
          </a:p>
        </p:txBody>
      </p:sp>
      <p:sp>
        <p:nvSpPr>
          <p:cNvPr id="198" name="Google Shape;198;p3"/>
          <p:cNvSpPr txBox="1"/>
          <p:nvPr/>
        </p:nvSpPr>
        <p:spPr>
          <a:xfrm>
            <a:off x="513375" y="3766950"/>
            <a:ext cx="47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199" name="Google Shape;199;p3"/>
          <p:cNvSpPr txBox="1"/>
          <p:nvPr/>
        </p:nvSpPr>
        <p:spPr>
          <a:xfrm>
            <a:off x="561000" y="3765050"/>
            <a:ext cx="282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이직 자체에 대한 원론적 고민 (10건)</a:t>
            </a:r>
            <a:endParaRPr/>
          </a:p>
        </p:txBody>
      </p:sp>
      <p:sp>
        <p:nvSpPr>
          <p:cNvPr id="200" name="Google Shape;200;p3"/>
          <p:cNvSpPr txBox="1"/>
          <p:nvPr/>
        </p:nvSpPr>
        <p:spPr>
          <a:xfrm>
            <a:off x="513375" y="3980221"/>
            <a:ext cx="47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01" name="Google Shape;201;p3"/>
          <p:cNvSpPr txBox="1"/>
          <p:nvPr/>
        </p:nvSpPr>
        <p:spPr>
          <a:xfrm>
            <a:off x="561000" y="3978325"/>
            <a:ext cx="282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순수 대학생활/학점 고민 (8건)</a:t>
            </a:r>
            <a:endParaRPr/>
          </a:p>
        </p:txBody>
      </p:sp>
      <p:sp>
        <p:nvSpPr>
          <p:cNvPr id="202" name="Google Shape;202;p3"/>
          <p:cNvSpPr txBox="1"/>
          <p:nvPr/>
        </p:nvSpPr>
        <p:spPr>
          <a:xfrm>
            <a:off x="513375" y="4193492"/>
            <a:ext cx="47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203" name="Google Shape;203;p3"/>
          <p:cNvSpPr txBox="1"/>
          <p:nvPr/>
        </p:nvSpPr>
        <p:spPr>
          <a:xfrm>
            <a:off x="561000" y="4191575"/>
            <a:ext cx="2826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7625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편입/반수 등 진학 고민 (7건)</a:t>
            </a:r>
            <a:endParaRPr/>
          </a:p>
        </p:txBody>
      </p:sp>
      <p:sp>
        <p:nvSpPr>
          <p:cNvPr id="204" name="Google Shape;204;p3"/>
          <p:cNvSpPr txBox="1"/>
          <p:nvPr/>
        </p:nvSpPr>
        <p:spPr>
          <a:xfrm>
            <a:off x="4018682" y="1561375"/>
            <a:ext cx="480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00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① 진로 방향 고민 (직무 미결정)</a:t>
            </a:r>
            <a:endParaRPr sz="1200"/>
          </a:p>
        </p:txBody>
      </p:sp>
      <p:sp>
        <p:nvSpPr>
          <p:cNvPr id="205" name="Google Shape;205;p3"/>
          <p:cNvSpPr txBox="1"/>
          <p:nvPr/>
        </p:nvSpPr>
        <p:spPr>
          <a:xfrm>
            <a:off x="4056625" y="1866175"/>
            <a:ext cx="47220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"어떤 직무가 맞을지 모르겠다", "전공과 다른 직무로 가도 될까" 등 산업군 및 세부 직무 선택의 어려움 호소</a:t>
            </a:r>
            <a:endParaRPr sz="1300"/>
          </a:p>
        </p:txBody>
      </p:sp>
      <p:sp>
        <p:nvSpPr>
          <p:cNvPr id="206" name="Google Shape;206;p3"/>
          <p:cNvSpPr txBox="1"/>
          <p:nvPr/>
        </p:nvSpPr>
        <p:spPr>
          <a:xfrm>
            <a:off x="5724525" y="7433220"/>
            <a:ext cx="56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직장 불만, 이직 방향성 및 시기, 연봉/처우 등에 대한 재직자의 커리어 전환 고민</a:t>
            </a:r>
            <a:endParaRPr/>
          </a:p>
        </p:txBody>
      </p:sp>
      <p:pic>
        <p:nvPicPr>
          <p:cNvPr id="207" name="Google Shape;207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50" y="1656425"/>
            <a:ext cx="3354300" cy="148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"/>
          <p:cNvSpPr/>
          <p:nvPr/>
        </p:nvSpPr>
        <p:spPr>
          <a:xfrm>
            <a:off x="3617750" y="2429550"/>
            <a:ext cx="5391600" cy="891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9" name="Google Shape;209;p3"/>
          <p:cNvSpPr txBox="1"/>
          <p:nvPr/>
        </p:nvSpPr>
        <p:spPr>
          <a:xfrm>
            <a:off x="4018682" y="2539750"/>
            <a:ext cx="480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-KR" sz="1200">
                <a:solidFill>
                  <a:schemeClr val="dk1"/>
                </a:solidFill>
              </a:rPr>
              <a:t>② 스펙/역량 부족 고민</a:t>
            </a:r>
            <a:endParaRPr b="1" sz="13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3"/>
          <p:cNvSpPr txBox="1"/>
          <p:nvPr/>
        </p:nvSpPr>
        <p:spPr>
          <a:xfrm>
            <a:off x="4056625" y="2844550"/>
            <a:ext cx="4722000" cy="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</a:t>
            </a:r>
            <a:r>
              <a:rPr lang="ko-KR" sz="102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자격증이 없는데 지원 가능할까", "학점이 낮은데 대기업 가능할까" 등 정량적 스펙에 대한 불안감</a:t>
            </a:r>
            <a:endParaRPr sz="102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1" name="Google Shape;211;p3"/>
          <p:cNvSpPr/>
          <p:nvPr/>
        </p:nvSpPr>
        <p:spPr>
          <a:xfrm>
            <a:off x="3617750" y="3407925"/>
            <a:ext cx="5391600" cy="891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p3"/>
          <p:cNvSpPr txBox="1"/>
          <p:nvPr/>
        </p:nvSpPr>
        <p:spPr>
          <a:xfrm>
            <a:off x="4018682" y="3518125"/>
            <a:ext cx="480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-KR" sz="1200">
                <a:solidFill>
                  <a:schemeClr val="dk1"/>
                </a:solidFill>
              </a:rPr>
              <a:t>③ 실무 경험 부족 고민 (인턴 경험 없음)</a:t>
            </a:r>
            <a:endParaRPr b="1" sz="13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3" name="Google Shape;213;p3"/>
          <p:cNvSpPr txBox="1"/>
          <p:nvPr/>
        </p:nvSpPr>
        <p:spPr>
          <a:xfrm>
            <a:off x="4056625" y="3822925"/>
            <a:ext cx="4722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sz="102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"인턴이나 현장실습 경험이 없다", "직무 관련 프로젝트/포트폴리오가 전혀 없다" 등 실무 경험 부재</a:t>
            </a:r>
            <a:endParaRPr sz="102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4" name="Google Shape;214;p3"/>
          <p:cNvSpPr/>
          <p:nvPr/>
        </p:nvSpPr>
        <p:spPr>
          <a:xfrm>
            <a:off x="3617750" y="4386300"/>
            <a:ext cx="5391600" cy="891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5" name="Google Shape;215;p3"/>
          <p:cNvSpPr txBox="1"/>
          <p:nvPr/>
        </p:nvSpPr>
        <p:spPr>
          <a:xfrm>
            <a:off x="4018682" y="4496500"/>
            <a:ext cx="480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-KR" sz="1200">
                <a:solidFill>
                  <a:schemeClr val="dk1"/>
                </a:solidFill>
              </a:rPr>
              <a:t>④ 취업 전략/방법 고민 (자소서/면접)</a:t>
            </a:r>
            <a:endParaRPr b="1" sz="13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6" name="Google Shape;216;p3"/>
          <p:cNvSpPr txBox="1"/>
          <p:nvPr/>
        </p:nvSpPr>
        <p:spPr>
          <a:xfrm>
            <a:off x="4056625" y="4801300"/>
            <a:ext cx="4722000" cy="3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sz="102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"자소서는 어떻게 써야 하나", "면접 준비는 어떻게 하나" 등 실행 단계에서의 구체적 방법론 질문</a:t>
            </a:r>
            <a:endParaRPr sz="102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7" name="Google Shape;217;p3"/>
          <p:cNvSpPr/>
          <p:nvPr/>
        </p:nvSpPr>
        <p:spPr>
          <a:xfrm>
            <a:off x="3617750" y="5364675"/>
            <a:ext cx="5391600" cy="8910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lt2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8" name="Google Shape;218;p3"/>
          <p:cNvSpPr txBox="1"/>
          <p:nvPr/>
        </p:nvSpPr>
        <p:spPr>
          <a:xfrm>
            <a:off x="4018682" y="5474875"/>
            <a:ext cx="480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ko-KR" sz="1200">
                <a:solidFill>
                  <a:schemeClr val="dk1"/>
                </a:solidFill>
              </a:rPr>
              <a:t>⑤ 직장/이직 고민</a:t>
            </a:r>
            <a:endParaRPr b="1" sz="13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9" name="Google Shape;219;p3"/>
          <p:cNvSpPr txBox="1"/>
          <p:nvPr/>
        </p:nvSpPr>
        <p:spPr>
          <a:xfrm>
            <a:off x="4056625" y="5779675"/>
            <a:ext cx="47220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 sz="1025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직장 불만, 이직 방향성 및 시기, 연봉/처우 등에 대한 재직자의 커리어 전환 고민</a:t>
            </a:r>
            <a:endParaRPr sz="1025">
              <a:solidFill>
                <a:srgbClr val="475569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220" name="Google Shape;220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51700" y="4466288"/>
            <a:ext cx="140400" cy="19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51700" y="1561762"/>
            <a:ext cx="140400" cy="18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51688" y="2515850"/>
            <a:ext cx="140400" cy="196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751700" y="3502788"/>
            <a:ext cx="140400" cy="18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51700" y="5443850"/>
            <a:ext cx="140400" cy="18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g409d9cb7e79_3_2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06151"/>
            <a:ext cx="9144000" cy="4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g409d9cb7e79_3_243"/>
          <p:cNvSpPr txBox="1"/>
          <p:nvPr/>
        </p:nvSpPr>
        <p:spPr>
          <a:xfrm>
            <a:off x="-59750" y="6485075"/>
            <a:ext cx="439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/>
              <a:t>💡 </a:t>
            </a:r>
            <a:r>
              <a:rPr b="1" lang="ko-KR" sz="900"/>
              <a:t>Note:</a:t>
            </a:r>
            <a:r>
              <a:rPr lang="ko-KR" sz="900"/>
              <a:t> 업무요청서 결과물 1번 (분석 대상: 499건 QnA 샘플 / 스크립트 기반 분류)</a:t>
            </a:r>
            <a:endParaRPr sz="900"/>
          </a:p>
        </p:txBody>
      </p:sp>
      <p:sp>
        <p:nvSpPr>
          <p:cNvPr id="232" name="Google Shape;232;g409d9cb7e79_3_243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유형화 산출물 종합 요약</a:t>
            </a:r>
            <a:endParaRPr sz="1100"/>
          </a:p>
        </p:txBody>
      </p:sp>
      <p:sp>
        <p:nvSpPr>
          <p:cNvPr id="233" name="Google Shape;233;g409d9cb7e79_3_243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409d9cb7e79_3_243"/>
          <p:cNvSpPr txBox="1"/>
          <p:nvPr/>
        </p:nvSpPr>
        <p:spPr>
          <a:xfrm>
            <a:off x="359375" y="714800"/>
            <a:ext cx="5498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유저 고민의 약 77%가 직무부트캠프 (탐색/실무/체험)와 직접적인 연결이 가능합니다.</a:t>
            </a:r>
            <a:endParaRPr sz="1100"/>
          </a:p>
        </p:txBody>
      </p:sp>
      <p:sp>
        <p:nvSpPr>
          <p:cNvPr id="235" name="Google Shape;235;g409d9cb7e79_3_243"/>
          <p:cNvSpPr txBox="1"/>
          <p:nvPr/>
        </p:nvSpPr>
        <p:spPr>
          <a:xfrm>
            <a:off x="5724525" y="7433220"/>
            <a:ext cx="56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직장 불만, 이직 방향성 및 시기, 연봉/처우 등에 대한 재직자의 커리어 전환 고민</a:t>
            </a:r>
            <a:endParaRPr/>
          </a:p>
        </p:txBody>
      </p:sp>
      <p:graphicFrame>
        <p:nvGraphicFramePr>
          <p:cNvPr id="236" name="Google Shape;236;g409d9cb7e79_3_243"/>
          <p:cNvGraphicFramePr/>
          <p:nvPr/>
        </p:nvGraphicFramePr>
        <p:xfrm>
          <a:off x="412558" y="15084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{A9A987C8-4B4C-4435-97A4-3E4B7B9A9D6B}</a:tableStyleId>
              </a:tblPr>
              <a:tblGrid>
                <a:gridCol w="1114075"/>
                <a:gridCol w="1162850"/>
                <a:gridCol w="1380275"/>
                <a:gridCol w="1561550"/>
                <a:gridCol w="1716250"/>
                <a:gridCol w="1383950"/>
              </a:tblGrid>
              <a:tr h="72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고민 유형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비중 (빈도)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고민 패턴 키워드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관심 분야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캠프 추천 시 활용 정보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7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캠프 연결성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2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직무 미결정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23.2% </a:t>
                      </a:r>
                      <a:r>
                        <a:rPr b="0" i="0" lang="ko-KR" sz="1200" u="non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(116건)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방향, 고민, 모르겠, 적성, 어떤 직무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공정, 설계, 화학, 연구, 반도체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전공, 관심 직무 후보,</a:t>
                      </a:r>
                      <a:br>
                        <a:rPr lang="ko-KR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고민 키워드(방향/선택)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27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>
                          <a:solidFill>
                            <a:srgbClr val="0369A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🏆 스펙/</a:t>
                      </a:r>
                      <a:r>
                        <a:rPr b="1" lang="ko-KR" sz="1200">
                          <a:solidFill>
                            <a:srgbClr val="0369A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역량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>
                          <a:solidFill>
                            <a:srgbClr val="0369A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41.1% </a:t>
                      </a:r>
                      <a:r>
                        <a:rPr b="1" i="0" lang="ko-KR" sz="1200" u="none">
                          <a:solidFill>
                            <a:srgbClr val="0284C7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(205건)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자격증, 준비, 어학, 기사, 스펙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연구, 반도체, 전기, 공정, 품질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보유 자격증, </a:t>
                      </a:r>
                      <a:r>
                        <a:rPr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학점, 타겟  </a:t>
                      </a: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기업/직무, 부족 역량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/>
                    </a:p>
                  </a:txBody>
                  <a:tcPr marT="25400" marB="25400" marR="63500" marL="27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9FF"/>
                    </a:solidFill>
                  </a:tcPr>
                </a:tc>
              </a:tr>
              <a:tr h="72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실무</a:t>
                      </a:r>
                      <a:r>
                        <a:rPr b="1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경험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6.6% </a:t>
                      </a:r>
                      <a:r>
                        <a:rPr b="0" i="0" lang="ko-KR" sz="1200" u="non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(33건)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인턴, 포트폴리오, 실습, 프로젝트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자동차, 물류, SCM, 반도체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학년, 전공, 희망 직무,</a:t>
                      </a:r>
                      <a:br>
                        <a:rPr lang="ko-KR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경험 유무(인턴 등)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/>
                    </a:p>
                  </a:txBody>
                  <a:tcPr marT="25400" marB="25400" marR="63500" marL="27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2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자소서/면접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23.0% </a:t>
                      </a:r>
                      <a:r>
                        <a:rPr b="0" i="0" lang="ko-KR" sz="1200" u="non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(115건)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면접, 서류, 준비, 자소서, 채용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생산, 공정, 개발, 기계, 품질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지원 기업명, 지원 직무,</a:t>
                      </a:r>
                      <a:br>
                        <a:rPr lang="ko-KR" sz="12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준비 단계(서류/면접)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29527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  <a:tr h="724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-KR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직장/</a:t>
                      </a:r>
                      <a:r>
                        <a:rPr b="1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이직 고민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6.0% </a:t>
                      </a:r>
                      <a:r>
                        <a:rPr b="0" i="0" lang="ko-KR" sz="1200" u="none">
                          <a:solidFill>
                            <a:srgbClr val="64748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(30건)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이직, 옮기, 커리어, 연봉, 재직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제약, 품질, 공정, 생산, 전기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현재 직무/업종, 경력 연차,</a:t>
                      </a:r>
                      <a:r>
                        <a:rPr lang="ko-KR" sz="1200"/>
                        <a:t> </a:t>
                      </a: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희망 전환 방향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200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endParaRPr/>
                    </a:p>
                  </a:txBody>
                  <a:tcPr marT="25400" marB="25400" marR="63500" marL="2762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g409d9cb7e79_3_243"/>
          <p:cNvSpPr/>
          <p:nvPr/>
        </p:nvSpPr>
        <p:spPr>
          <a:xfrm>
            <a:off x="412576" y="2957583"/>
            <a:ext cx="1324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409d9cb7e79_3_243"/>
          <p:cNvSpPr/>
          <p:nvPr/>
        </p:nvSpPr>
        <p:spPr>
          <a:xfrm>
            <a:off x="1737370" y="2957583"/>
            <a:ext cx="2208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g409d9cb7e79_3_243"/>
          <p:cNvSpPr/>
          <p:nvPr/>
        </p:nvSpPr>
        <p:spPr>
          <a:xfrm>
            <a:off x="3945361" y="2957583"/>
            <a:ext cx="2428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g409d9cb7e79_3_243"/>
          <p:cNvSpPr/>
          <p:nvPr/>
        </p:nvSpPr>
        <p:spPr>
          <a:xfrm>
            <a:off x="6099524" y="2956394"/>
            <a:ext cx="26055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g409d9cb7e79_3_243"/>
          <p:cNvSpPr/>
          <p:nvPr/>
        </p:nvSpPr>
        <p:spPr>
          <a:xfrm>
            <a:off x="412463" y="3672502"/>
            <a:ext cx="8319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g409d9cb7e79_3_2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78779" y="2511100"/>
            <a:ext cx="1033370" cy="2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g409d9cb7e79_3_2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78867" y="3192962"/>
            <a:ext cx="1033200" cy="24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g409d9cb7e79_3_2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8867" y="3928600"/>
            <a:ext cx="1033200" cy="23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409d9cb7e79_3_2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78867" y="5435888"/>
            <a:ext cx="1033200" cy="243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409d9cb7e79_3_2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03429" y="4659913"/>
            <a:ext cx="784080" cy="23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g409d9cb7e79_3_243">
            <a:hlinkClick r:id="rId9"/>
          </p:cNvPr>
          <p:cNvSpPr txBox="1"/>
          <p:nvPr/>
        </p:nvSpPr>
        <p:spPr>
          <a:xfrm>
            <a:off x="5478454" y="6487800"/>
            <a:ext cx="3666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/>
              <a:t>📊 </a:t>
            </a:r>
            <a:r>
              <a:rPr b="1" lang="ko-KR" sz="900"/>
              <a:t>산출물</a:t>
            </a:r>
            <a:r>
              <a:rPr lang="ko-KR" sz="900"/>
              <a:t>: </a:t>
            </a:r>
            <a:r>
              <a:rPr lang="ko-KR" sz="900"/>
              <a:t>comento worry type analysis</a:t>
            </a:r>
            <a:r>
              <a:rPr lang="ko-KR" sz="900"/>
              <a:t>.xlsx (전체 시트 구성 완료)</a:t>
            </a:r>
            <a:endParaRPr sz="900"/>
          </a:p>
        </p:txBody>
      </p:sp>
      <p:sp>
        <p:nvSpPr>
          <p:cNvPr id="248" name="Google Shape;248;g409d9cb7e79_3_243"/>
          <p:cNvSpPr/>
          <p:nvPr/>
        </p:nvSpPr>
        <p:spPr>
          <a:xfrm>
            <a:off x="412538" y="4411265"/>
            <a:ext cx="8319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g409d9cb7e79_3_243"/>
          <p:cNvSpPr/>
          <p:nvPr/>
        </p:nvSpPr>
        <p:spPr>
          <a:xfrm>
            <a:off x="412463" y="5136540"/>
            <a:ext cx="8319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g409d9cb7e79_3_3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575" y="4497750"/>
            <a:ext cx="3672451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g409d9cb7e79_3_3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6683" y="3499465"/>
            <a:ext cx="1602997" cy="79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g409d9cb7e79_3_3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8017" y="3499465"/>
            <a:ext cx="1602997" cy="79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409d9cb7e79_3_3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350" y="3506303"/>
            <a:ext cx="1602997" cy="79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g409d9cb7e79_3_3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9350" y="1506050"/>
            <a:ext cx="5070904" cy="1457887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g409d9cb7e79_3_332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유저 심층 탐구: '스펙/역량' 유형</a:t>
            </a:r>
            <a:endParaRPr sz="1100"/>
          </a:p>
        </p:txBody>
      </p:sp>
      <p:sp>
        <p:nvSpPr>
          <p:cNvPr id="261" name="Google Shape;261;g409d9cb7e79_3_332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409d9cb7e79_3_332"/>
          <p:cNvSpPr txBox="1"/>
          <p:nvPr/>
        </p:nvSpPr>
        <p:spPr>
          <a:xfrm>
            <a:off x="359375" y="714800"/>
            <a:ext cx="5498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전체 비중 1위(41.1%)를 차지하는 '스펙/역량' 유저의 주요 특징 및 프로파일 지표</a:t>
            </a:r>
            <a:endParaRPr sz="1100"/>
          </a:p>
        </p:txBody>
      </p:sp>
      <p:sp>
        <p:nvSpPr>
          <p:cNvPr id="263" name="Google Shape;263;g409d9cb7e79_3_332"/>
          <p:cNvSpPr txBox="1"/>
          <p:nvPr/>
        </p:nvSpPr>
        <p:spPr>
          <a:xfrm>
            <a:off x="5724525" y="7433220"/>
            <a:ext cx="5658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직장 불만, 이직 방향성 및 시기, 연봉/처우 등에 대한 재직자의 커리어 전환 고민</a:t>
            </a:r>
            <a:endParaRPr/>
          </a:p>
        </p:txBody>
      </p:sp>
      <p:sp>
        <p:nvSpPr>
          <p:cNvPr id="264" name="Google Shape;264;g409d9cb7e79_3_332"/>
          <p:cNvSpPr txBox="1"/>
          <p:nvPr/>
        </p:nvSpPr>
        <p:spPr>
          <a:xfrm>
            <a:off x="159350" y="3163400"/>
            <a:ext cx="50007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유저 프로파일 지표</a:t>
            </a:r>
            <a:endParaRPr/>
          </a:p>
        </p:txBody>
      </p:sp>
      <p:sp>
        <p:nvSpPr>
          <p:cNvPr id="265" name="Google Shape;265;g409d9cb7e79_3_332"/>
          <p:cNvSpPr txBox="1"/>
          <p:nvPr/>
        </p:nvSpPr>
        <p:spPr>
          <a:xfrm>
            <a:off x="159350" y="4534999"/>
            <a:ext cx="50799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25" u="none" cap="none" strike="noStrik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* 지표 해석: 타겟 직무나 기업을 명확히 정하지 못한 비율이 60% 이상으로 높습니다. 이는 특정 스펙이 없어서 지원조차 망설이는 상태임을 시사합니다.</a:t>
            </a:r>
            <a:endParaRPr/>
          </a:p>
        </p:txBody>
      </p:sp>
      <p:sp>
        <p:nvSpPr>
          <p:cNvPr id="266" name="Google Shape;266;g409d9cb7e79_3_332"/>
          <p:cNvSpPr txBox="1"/>
          <p:nvPr/>
        </p:nvSpPr>
        <p:spPr>
          <a:xfrm>
            <a:off x="5343725" y="1512225"/>
            <a:ext cx="3672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고민 패턴 키워드 Top 5 (발현 빈도)</a:t>
            </a:r>
            <a:endParaRPr/>
          </a:p>
        </p:txBody>
      </p:sp>
      <p:sp>
        <p:nvSpPr>
          <p:cNvPr id="267" name="Google Shape;267;g409d9cb7e79_3_332"/>
          <p:cNvSpPr/>
          <p:nvPr/>
        </p:nvSpPr>
        <p:spPr>
          <a:xfrm>
            <a:off x="5343725" y="1855125"/>
            <a:ext cx="3672600" cy="924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8" name="Google Shape;268;g409d9cb7e79_3_332"/>
          <p:cNvGraphicFramePr/>
          <p:nvPr/>
        </p:nvGraphicFramePr>
        <p:xfrm>
          <a:off x="5343725" y="18551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{A9A987C8-4B4C-4435-97A4-3E4B7B9A9D6B}</a:tableStyleId>
              </a:tblPr>
              <a:tblGrid>
                <a:gridCol w="855275"/>
                <a:gridCol w="702850"/>
                <a:gridCol w="702850"/>
                <a:gridCol w="702850"/>
                <a:gridCol w="708600"/>
              </a:tblGrid>
              <a:tr h="4619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자격증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준비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어학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기사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스펙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73건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66건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52건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50건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46건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g409d9cb7e79_3_332"/>
          <p:cNvSpPr txBox="1"/>
          <p:nvPr/>
        </p:nvSpPr>
        <p:spPr>
          <a:xfrm>
            <a:off x="5343725" y="3017175"/>
            <a:ext cx="3672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50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관심 분야 Top 5 (발현 빈도)</a:t>
            </a:r>
            <a:endParaRPr/>
          </a:p>
        </p:txBody>
      </p:sp>
      <p:sp>
        <p:nvSpPr>
          <p:cNvPr id="270" name="Google Shape;270;g409d9cb7e79_3_332"/>
          <p:cNvSpPr/>
          <p:nvPr/>
        </p:nvSpPr>
        <p:spPr>
          <a:xfrm>
            <a:off x="5343725" y="3360075"/>
            <a:ext cx="3672600" cy="9240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1" name="Google Shape;271;g409d9cb7e79_3_332"/>
          <p:cNvGraphicFramePr/>
          <p:nvPr/>
        </p:nvGraphicFramePr>
        <p:xfrm>
          <a:off x="5343725" y="3360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{A9A987C8-4B4C-4435-97A4-3E4B7B9A9D6B}</a:tableStyleId>
              </a:tblPr>
              <a:tblGrid>
                <a:gridCol w="708425"/>
                <a:gridCol w="849775"/>
                <a:gridCol w="702875"/>
                <a:gridCol w="702875"/>
                <a:gridCol w="708625"/>
              </a:tblGrid>
              <a:tr h="4621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연구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반도체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>
                          <a:solidFill>
                            <a:srgbClr val="1E293B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품질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61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33건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32건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31건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30건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28건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CFD"/>
                    </a:solidFill>
                  </a:tcPr>
                </a:tc>
              </a:tr>
            </a:tbl>
          </a:graphicData>
        </a:graphic>
      </p:graphicFrame>
      <p:sp>
        <p:nvSpPr>
          <p:cNvPr id="272" name="Google Shape;272;g409d9cb7e79_3_332"/>
          <p:cNvSpPr txBox="1"/>
          <p:nvPr/>
        </p:nvSpPr>
        <p:spPr>
          <a:xfrm>
            <a:off x="572241" y="1696545"/>
            <a:ext cx="471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350" u="none" cap="none" strike="noStrike">
                <a:solidFill>
                  <a:srgbClr val="9A3412"/>
                </a:solidFill>
                <a:latin typeface="Noto Sans KR"/>
                <a:ea typeface="Noto Sans KR"/>
                <a:cs typeface="Noto Sans KR"/>
                <a:sym typeface="Noto Sans KR"/>
              </a:rPr>
              <a:t>'스펙</a:t>
            </a:r>
            <a:r>
              <a:rPr b="1" lang="ko-KR" sz="1350">
                <a:solidFill>
                  <a:srgbClr val="9A3412"/>
                </a:solidFill>
                <a:latin typeface="Noto Sans KR"/>
                <a:ea typeface="Noto Sans KR"/>
                <a:cs typeface="Noto Sans KR"/>
                <a:sym typeface="Noto Sans KR"/>
              </a:rPr>
              <a:t>/역량</a:t>
            </a:r>
            <a:r>
              <a:rPr b="1" i="0" lang="ko-KR" sz="1350" u="none" cap="none" strike="noStrike">
                <a:solidFill>
                  <a:srgbClr val="9A3412"/>
                </a:solidFill>
                <a:latin typeface="Noto Sans KR"/>
                <a:ea typeface="Noto Sans KR"/>
                <a:cs typeface="Noto Sans KR"/>
                <a:sym typeface="Noto Sans KR"/>
              </a:rPr>
              <a:t>' 유형 핵심 인사이트</a:t>
            </a:r>
            <a:endParaRPr/>
          </a:p>
        </p:txBody>
      </p:sp>
      <p:sp>
        <p:nvSpPr>
          <p:cNvPr id="273" name="Google Shape;273;g409d9cb7e79_3_332"/>
          <p:cNvSpPr txBox="1"/>
          <p:nvPr/>
        </p:nvSpPr>
        <p:spPr>
          <a:xfrm>
            <a:off x="377064" y="1982296"/>
            <a:ext cx="4680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7C2D12"/>
                </a:solidFill>
                <a:latin typeface="Noto Sans KR"/>
                <a:ea typeface="Noto Sans KR"/>
                <a:cs typeface="Noto Sans KR"/>
                <a:sym typeface="Noto Sans KR"/>
              </a:rPr>
              <a:t>"자격증이 없는데 가능할까", "학점이 낮아도 되나" 등 자기 스펙에 대한 불안이 섞인 질문이 주를 이룹니다. 구체적 타겟 직무가 있는 경우가 많아, 역량을 보완할 수 있는 </a:t>
            </a:r>
            <a:r>
              <a:rPr b="1" i="0" lang="ko-KR" sz="1200" u="none" cap="none" strike="noStrike">
                <a:solidFill>
                  <a:srgbClr val="7C2D12"/>
                </a:solidFill>
                <a:latin typeface="Noto Sans KR"/>
                <a:ea typeface="Noto Sans KR"/>
                <a:cs typeface="Noto Sans KR"/>
                <a:sym typeface="Noto Sans KR"/>
              </a:rPr>
              <a:t>실무 부트캠프</a:t>
            </a:r>
            <a:r>
              <a:rPr b="0" i="0" lang="ko-KR" sz="1200" u="none" cap="none" strike="noStrike">
                <a:solidFill>
                  <a:srgbClr val="7C2D12"/>
                </a:solidFill>
                <a:latin typeface="Noto Sans KR"/>
                <a:ea typeface="Noto Sans KR"/>
                <a:cs typeface="Noto Sans KR"/>
                <a:sym typeface="Noto Sans KR"/>
              </a:rPr>
              <a:t> 전환율이 높을 것으로 기대됩니다.</a:t>
            </a:r>
            <a:endParaRPr/>
          </a:p>
        </p:txBody>
      </p:sp>
      <p:sp>
        <p:nvSpPr>
          <p:cNvPr id="274" name="Google Shape;274;g409d9cb7e79_3_332"/>
          <p:cNvSpPr/>
          <p:nvPr/>
        </p:nvSpPr>
        <p:spPr>
          <a:xfrm>
            <a:off x="5348487" y="2298043"/>
            <a:ext cx="12399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g409d9cb7e79_3_332"/>
          <p:cNvSpPr/>
          <p:nvPr/>
        </p:nvSpPr>
        <p:spPr>
          <a:xfrm>
            <a:off x="6588523" y="2298043"/>
            <a:ext cx="1019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g409d9cb7e79_3_332"/>
          <p:cNvSpPr/>
          <p:nvPr/>
        </p:nvSpPr>
        <p:spPr>
          <a:xfrm>
            <a:off x="7607549" y="2298043"/>
            <a:ext cx="1019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409d9cb7e79_3_332"/>
          <p:cNvSpPr/>
          <p:nvPr/>
        </p:nvSpPr>
        <p:spPr>
          <a:xfrm>
            <a:off x="7603962" y="2298038"/>
            <a:ext cx="7017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409d9cb7e79_3_332"/>
          <p:cNvSpPr/>
          <p:nvPr/>
        </p:nvSpPr>
        <p:spPr>
          <a:xfrm>
            <a:off x="8305559" y="2298038"/>
            <a:ext cx="7074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409d9cb7e79_3_332"/>
          <p:cNvSpPr/>
          <p:nvPr/>
        </p:nvSpPr>
        <p:spPr>
          <a:xfrm>
            <a:off x="5348487" y="3802993"/>
            <a:ext cx="10272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g409d9cb7e79_3_332"/>
          <p:cNvSpPr/>
          <p:nvPr/>
        </p:nvSpPr>
        <p:spPr>
          <a:xfrm>
            <a:off x="6375550" y="3802993"/>
            <a:ext cx="1232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g409d9cb7e79_3_332"/>
          <p:cNvSpPr/>
          <p:nvPr/>
        </p:nvSpPr>
        <p:spPr>
          <a:xfrm>
            <a:off x="7607549" y="3802993"/>
            <a:ext cx="10191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g409d9cb7e79_3_332"/>
          <p:cNvSpPr/>
          <p:nvPr/>
        </p:nvSpPr>
        <p:spPr>
          <a:xfrm>
            <a:off x="7604054" y="3802988"/>
            <a:ext cx="7017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g409d9cb7e79_3_332"/>
          <p:cNvSpPr/>
          <p:nvPr/>
        </p:nvSpPr>
        <p:spPr>
          <a:xfrm>
            <a:off x="8305680" y="3802988"/>
            <a:ext cx="707400" cy="19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409d9cb7e79_3_332"/>
          <p:cNvSpPr txBox="1"/>
          <p:nvPr/>
        </p:nvSpPr>
        <p:spPr>
          <a:xfrm>
            <a:off x="5456915" y="4684049"/>
            <a:ext cx="3455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050" u="none" cap="none" strike="noStrik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상위 타겟 직무 (명확한 경우)</a:t>
            </a:r>
            <a:endParaRPr/>
          </a:p>
        </p:txBody>
      </p:sp>
      <p:sp>
        <p:nvSpPr>
          <p:cNvPr id="285" name="Google Shape;285;g409d9cb7e79_3_332"/>
          <p:cNvSpPr txBox="1"/>
          <p:nvPr/>
        </p:nvSpPr>
        <p:spPr>
          <a:xfrm>
            <a:off x="5456926" y="4903125"/>
            <a:ext cx="36267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25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품질관리(9건), 공정기술(8건), 공정설계(5건), 생산기술(4건)</a:t>
            </a:r>
            <a:endParaRPr sz="1300"/>
          </a:p>
        </p:txBody>
      </p:sp>
      <p:sp>
        <p:nvSpPr>
          <p:cNvPr id="286" name="Google Shape;286;g409d9cb7e79_3_332"/>
          <p:cNvSpPr txBox="1"/>
          <p:nvPr/>
        </p:nvSpPr>
        <p:spPr>
          <a:xfrm>
            <a:off x="304493" y="3658698"/>
            <a:ext cx="131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타겟 직무 미정 비율</a:t>
            </a:r>
            <a:endParaRPr/>
          </a:p>
        </p:txBody>
      </p:sp>
      <p:sp>
        <p:nvSpPr>
          <p:cNvPr id="287" name="Google Shape;287;g409d9cb7e79_3_332"/>
          <p:cNvSpPr txBox="1"/>
          <p:nvPr/>
        </p:nvSpPr>
        <p:spPr>
          <a:xfrm>
            <a:off x="304493" y="3877773"/>
            <a:ext cx="131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62.4%</a:t>
            </a:r>
            <a:endParaRPr sz="1000"/>
          </a:p>
        </p:txBody>
      </p:sp>
      <p:sp>
        <p:nvSpPr>
          <p:cNvPr id="288" name="Google Shape;288;g409d9cb7e79_3_332"/>
          <p:cNvSpPr txBox="1"/>
          <p:nvPr/>
        </p:nvSpPr>
        <p:spPr>
          <a:xfrm>
            <a:off x="2043088" y="3658698"/>
            <a:ext cx="131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타겟 기업 미정 비율</a:t>
            </a:r>
            <a:endParaRPr/>
          </a:p>
        </p:txBody>
      </p:sp>
      <p:sp>
        <p:nvSpPr>
          <p:cNvPr id="289" name="Google Shape;289;g409d9cb7e79_3_332"/>
          <p:cNvSpPr txBox="1"/>
          <p:nvPr/>
        </p:nvSpPr>
        <p:spPr>
          <a:xfrm>
            <a:off x="2043088" y="3877773"/>
            <a:ext cx="131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u="none" cap="none" strike="noStrik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61.5%</a:t>
            </a:r>
            <a:endParaRPr sz="1000"/>
          </a:p>
        </p:txBody>
      </p:sp>
      <p:sp>
        <p:nvSpPr>
          <p:cNvPr id="290" name="Google Shape;290;g409d9cb7e79_3_332"/>
          <p:cNvSpPr txBox="1"/>
          <p:nvPr/>
        </p:nvSpPr>
        <p:spPr>
          <a:xfrm>
            <a:off x="3781826" y="3658698"/>
            <a:ext cx="131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050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답변 보유율</a:t>
            </a:r>
            <a:endParaRPr/>
          </a:p>
        </p:txBody>
      </p:sp>
      <p:sp>
        <p:nvSpPr>
          <p:cNvPr id="291" name="Google Shape;291;g409d9cb7e79_3_332"/>
          <p:cNvSpPr txBox="1"/>
          <p:nvPr/>
        </p:nvSpPr>
        <p:spPr>
          <a:xfrm>
            <a:off x="3781826" y="3877773"/>
            <a:ext cx="1312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u="none" cap="none" strike="noStrike">
                <a:solidFill>
                  <a:srgbClr val="10B981"/>
                </a:solidFill>
                <a:latin typeface="Poppins"/>
                <a:ea typeface="Poppins"/>
                <a:cs typeface="Poppins"/>
                <a:sym typeface="Poppins"/>
              </a:rPr>
              <a:t>92.2%</a:t>
            </a:r>
            <a:endParaRPr sz="1000"/>
          </a:p>
        </p:txBody>
      </p:sp>
      <p:pic>
        <p:nvPicPr>
          <p:cNvPr id="292" name="Google Shape;292;g409d9cb7e79_3_3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7052" y="1709238"/>
            <a:ext cx="133714" cy="18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3551"/>
            <a:ext cx="9144000" cy="4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직무부트캠프 정보 분석 및 유형화 프레임</a:t>
            </a:r>
            <a:endParaRPr sz="1100"/>
          </a:p>
        </p:txBody>
      </p:sp>
      <p:sp>
        <p:nvSpPr>
          <p:cNvPr id="300" name="Google Shape;300;p4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">
            <a:hlinkClick r:id="rId4"/>
          </p:cNvPr>
          <p:cNvSpPr txBox="1"/>
          <p:nvPr/>
        </p:nvSpPr>
        <p:spPr>
          <a:xfrm>
            <a:off x="6280575" y="6419200"/>
            <a:ext cx="271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/>
              <a:t>📊 </a:t>
            </a:r>
            <a:r>
              <a:rPr b="1" lang="ko-KR" sz="900"/>
              <a:t>산출물</a:t>
            </a:r>
            <a:r>
              <a:rPr lang="ko-KR" sz="900"/>
              <a:t>: </a:t>
            </a:r>
            <a:r>
              <a:rPr lang="ko-KR" sz="900"/>
              <a:t>직무 부트캠프</a:t>
            </a:r>
            <a:r>
              <a:rPr lang="ko-KR" sz="900"/>
              <a:t>.xlsx (전체 시트 구성 완료)</a:t>
            </a:r>
            <a:endParaRPr sz="900"/>
          </a:p>
        </p:txBody>
      </p:sp>
      <p:pic>
        <p:nvPicPr>
          <p:cNvPr id="302" name="Google Shape;302;p4"/>
          <p:cNvPicPr preferRelativeResize="0"/>
          <p:nvPr/>
        </p:nvPicPr>
        <p:blipFill rotWithShape="1">
          <a:blip r:embed="rId5">
            <a:alphaModFix/>
          </a:blip>
          <a:srcRect b="9025" l="478" r="0" t="0"/>
          <a:stretch/>
        </p:blipFill>
        <p:spPr>
          <a:xfrm>
            <a:off x="541068" y="1086882"/>
            <a:ext cx="8142925" cy="421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g409d96ae0ac_1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23551"/>
            <a:ext cx="9144000" cy="43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409d96ae0ac_1_40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직무부트캠프 정보 분석 및 유형화 프레임</a:t>
            </a:r>
            <a:endParaRPr sz="1100"/>
          </a:p>
        </p:txBody>
      </p:sp>
      <p:sp>
        <p:nvSpPr>
          <p:cNvPr id="310" name="Google Shape;310;g409d96ae0ac_1_40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409d96ae0ac_1_40">
            <a:hlinkClick r:id="rId4"/>
          </p:cNvPr>
          <p:cNvSpPr txBox="1"/>
          <p:nvPr/>
        </p:nvSpPr>
        <p:spPr>
          <a:xfrm>
            <a:off x="6369300" y="6481300"/>
            <a:ext cx="2774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/>
              <a:t>📊 </a:t>
            </a:r>
            <a:r>
              <a:rPr b="1" lang="ko-KR" sz="900"/>
              <a:t>산출물</a:t>
            </a:r>
            <a:r>
              <a:rPr lang="ko-KR" sz="900"/>
              <a:t>: 직무 부트캠프.xlsx (전체 시트 구성 완료)</a:t>
            </a:r>
            <a:endParaRPr sz="900"/>
          </a:p>
        </p:txBody>
      </p:sp>
      <p:sp>
        <p:nvSpPr>
          <p:cNvPr id="312" name="Google Shape;312;g409d96ae0ac_1_40"/>
          <p:cNvSpPr/>
          <p:nvPr/>
        </p:nvSpPr>
        <p:spPr>
          <a:xfrm>
            <a:off x="147675" y="1594800"/>
            <a:ext cx="1722600" cy="546000"/>
          </a:xfrm>
          <a:prstGeom prst="rect">
            <a:avLst/>
          </a:prstGeom>
          <a:solidFill>
            <a:srgbClr val="3B4F6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분류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3" name="Google Shape;313;g409d96ae0ac_1_40"/>
          <p:cNvSpPr/>
          <p:nvPr/>
        </p:nvSpPr>
        <p:spPr>
          <a:xfrm>
            <a:off x="1870126" y="1594800"/>
            <a:ext cx="1992300" cy="546000"/>
          </a:xfrm>
          <a:prstGeom prst="rect">
            <a:avLst/>
          </a:prstGeom>
          <a:solidFill>
            <a:srgbClr val="3B4F6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유저의 핵심 질문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g409d96ae0ac_1_40"/>
          <p:cNvSpPr/>
          <p:nvPr/>
        </p:nvSpPr>
        <p:spPr>
          <a:xfrm>
            <a:off x="3862766" y="1594800"/>
            <a:ext cx="2094000" cy="546000"/>
          </a:xfrm>
          <a:prstGeom prst="rect">
            <a:avLst/>
          </a:prstGeom>
          <a:solidFill>
            <a:srgbClr val="3B4F6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부트캠프가 제공하는 가치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5" name="Google Shape;315;g409d96ae0ac_1_40"/>
          <p:cNvSpPr/>
          <p:nvPr/>
        </p:nvSpPr>
        <p:spPr>
          <a:xfrm>
            <a:off x="5956726" y="1594800"/>
            <a:ext cx="3039600" cy="546000"/>
          </a:xfrm>
          <a:prstGeom prst="rect">
            <a:avLst/>
          </a:prstGeom>
          <a:solidFill>
            <a:srgbClr val="3B4F6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파일에서 나타나는 근거 (주요 키워드)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6" name="Google Shape;316;g409d96ae0ac_1_40"/>
          <p:cNvSpPr/>
          <p:nvPr/>
        </p:nvSpPr>
        <p:spPr>
          <a:xfrm>
            <a:off x="147675" y="2140856"/>
            <a:ext cx="1722600" cy="1084800"/>
          </a:xfrm>
          <a:prstGeom prst="rect">
            <a:avLst/>
          </a:prstGeom>
          <a:solidFill>
            <a:srgbClr val="EAF5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13A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0821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▤  직무 경험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13A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0821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부족형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7" name="Google Shape;317;g409d96ae0ac_1_40"/>
          <p:cNvSpPr/>
          <p:nvPr/>
        </p:nvSpPr>
        <p:spPr>
          <a:xfrm>
            <a:off x="1870126" y="2140856"/>
            <a:ext cx="1992300" cy="1084800"/>
          </a:xfrm>
          <a:prstGeom prst="rect">
            <a:avLst/>
          </a:prstGeom>
          <a:solidFill>
            <a:srgbClr val="EAF5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500"/>
              <a:buFont typeface="Malgun Gothic"/>
              <a:buNone/>
            </a:pPr>
            <a:r>
              <a:rPr b="0" i="0" lang="ko-KR" sz="130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“지원할 직무는 정했는데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500"/>
              <a:buFont typeface="Malgun Gothic"/>
              <a:buNone/>
            </a:pPr>
            <a:r>
              <a:rPr b="0" i="0" lang="ko-KR" sz="130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쓸 경험이 없다”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8" name="Google Shape;318;g409d96ae0ac_1_40"/>
          <p:cNvSpPr/>
          <p:nvPr/>
        </p:nvSpPr>
        <p:spPr>
          <a:xfrm>
            <a:off x="3862766" y="2140856"/>
            <a:ext cx="2094000" cy="1084800"/>
          </a:xfrm>
          <a:prstGeom prst="rect">
            <a:avLst/>
          </a:prstGeom>
          <a:solidFill>
            <a:srgbClr val="EAF5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C8"/>
              </a:buClr>
              <a:buSzPts val="1600"/>
              <a:buFont typeface="Malgun Gothic"/>
              <a:buNone/>
            </a:pPr>
            <a:r>
              <a:rPr b="1" i="0" lang="ko-KR" u="none" cap="none" strike="noStrike">
                <a:solidFill>
                  <a:srgbClr val="005CC8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직접 해본 경험과</a:t>
            </a:r>
            <a:endParaRPr b="0" i="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5CC8"/>
              </a:buClr>
              <a:buSzPts val="1600"/>
              <a:buFont typeface="Malgun Gothic"/>
              <a:buNone/>
            </a:pPr>
            <a:r>
              <a:rPr b="1" i="0" lang="ko-KR" u="none" cap="none" strike="noStrike">
                <a:solidFill>
                  <a:srgbClr val="005CC8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 생성</a:t>
            </a:r>
            <a:endParaRPr b="0" i="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9" name="Google Shape;319;g409d96ae0ac_1_40"/>
          <p:cNvSpPr/>
          <p:nvPr/>
        </p:nvSpPr>
        <p:spPr>
          <a:xfrm>
            <a:off x="5956726" y="2140856"/>
            <a:ext cx="3039600" cy="1084800"/>
          </a:xfrm>
          <a:prstGeom prst="rect">
            <a:avLst/>
          </a:prstGeom>
          <a:solidFill>
            <a:srgbClr val="EAF5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370"/>
              <a:buFont typeface="Malgun Gothic"/>
              <a:buNone/>
            </a:pPr>
            <a:r>
              <a:rPr b="0" i="0" lang="ko-KR" sz="117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프로젝트, 포트폴리오, 기획안, 보고서,</a:t>
            </a:r>
            <a:endParaRPr b="0" i="0" sz="117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370"/>
              <a:buFont typeface="Malgun Gothic"/>
              <a:buNone/>
            </a:pPr>
            <a:r>
              <a:rPr b="0" i="0" lang="ko-KR" sz="117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대시보드, 개선안, 설계, 구축·개발</a:t>
            </a:r>
            <a:endParaRPr b="0" i="0" sz="117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0" name="Google Shape;320;g409d96ae0ac_1_40"/>
          <p:cNvSpPr/>
          <p:nvPr/>
        </p:nvSpPr>
        <p:spPr>
          <a:xfrm>
            <a:off x="147675" y="3225966"/>
            <a:ext cx="1722600" cy="1084800"/>
          </a:xfrm>
          <a:prstGeom prst="rect">
            <a:avLst/>
          </a:prstGeom>
          <a:solidFill>
            <a:srgbClr val="EEF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13A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0821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◇  방향성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13A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0821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혼란형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1" name="Google Shape;321;g409d96ae0ac_1_40"/>
          <p:cNvSpPr/>
          <p:nvPr/>
        </p:nvSpPr>
        <p:spPr>
          <a:xfrm>
            <a:off x="1870126" y="3225966"/>
            <a:ext cx="1992300" cy="1084800"/>
          </a:xfrm>
          <a:prstGeom prst="rect">
            <a:avLst/>
          </a:prstGeom>
          <a:solidFill>
            <a:srgbClr val="EEF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500"/>
              <a:buFont typeface="Malgun Gothic"/>
              <a:buNone/>
            </a:pPr>
            <a:r>
              <a:rPr b="0" i="0" lang="ko-KR" sz="130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“어떤 직무가 나에게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500"/>
              <a:buFont typeface="Malgun Gothic"/>
              <a:buNone/>
            </a:pPr>
            <a:r>
              <a:rPr b="0" i="0" lang="ko-KR" sz="130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맞는지 모르겠다”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2" name="Google Shape;322;g409d96ae0ac_1_40"/>
          <p:cNvSpPr/>
          <p:nvPr/>
        </p:nvSpPr>
        <p:spPr>
          <a:xfrm>
            <a:off x="3862766" y="3225966"/>
            <a:ext cx="2094000" cy="1084800"/>
          </a:xfrm>
          <a:prstGeom prst="rect">
            <a:avLst/>
          </a:prstGeom>
          <a:solidFill>
            <a:srgbClr val="EEF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814A"/>
              </a:buClr>
              <a:buSzPts val="1600"/>
              <a:buFont typeface="Malgun Gothic"/>
              <a:buNone/>
            </a:pPr>
            <a:r>
              <a:rPr b="1" i="0" lang="ko-KR" u="none" cap="none" strike="noStrike">
                <a:solidFill>
                  <a:srgbClr val="10814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직무 탐색·비교·이해</a:t>
            </a:r>
            <a:endParaRPr b="0" i="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g409d96ae0ac_1_40"/>
          <p:cNvSpPr/>
          <p:nvPr/>
        </p:nvSpPr>
        <p:spPr>
          <a:xfrm>
            <a:off x="5956726" y="3225966"/>
            <a:ext cx="3039600" cy="1084800"/>
          </a:xfrm>
          <a:prstGeom prst="rect">
            <a:avLst/>
          </a:prstGeom>
          <a:solidFill>
            <a:srgbClr val="EEF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370"/>
              <a:buFont typeface="Malgun Gothic"/>
              <a:buNone/>
            </a:pPr>
            <a:r>
              <a:rPr b="0" i="0" lang="ko-KR" sz="117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직무체험, 적성 찾기, A to Z, 업무 비교,</a:t>
            </a:r>
            <a:endParaRPr b="0" i="0" sz="117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370"/>
              <a:buFont typeface="Malgun Gothic"/>
              <a:buNone/>
            </a:pPr>
            <a:r>
              <a:rPr b="0" i="0" lang="ko-KR" sz="117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전체 흐름, 직무 이해, 현황 진단</a:t>
            </a:r>
            <a:endParaRPr b="0" i="0" sz="117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g409d96ae0ac_1_40"/>
          <p:cNvSpPr/>
          <p:nvPr/>
        </p:nvSpPr>
        <p:spPr>
          <a:xfrm>
            <a:off x="147675" y="4311077"/>
            <a:ext cx="1722600" cy="1084800"/>
          </a:xfrm>
          <a:prstGeom prst="rect">
            <a:avLst/>
          </a:prstGeom>
          <a:solidFill>
            <a:srgbClr val="FFF1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13A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08213A"/>
                </a:solidFill>
                <a:latin typeface="Malgun Gothic"/>
                <a:ea typeface="Malgun Gothic"/>
                <a:cs typeface="Malgun Gothic"/>
                <a:sym typeface="Malgun Gothic"/>
              </a:rPr>
              <a:t>⚙  스킬/툴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8213A"/>
              </a:buClr>
              <a:buSzPts val="1500"/>
              <a:buFont typeface="Malgun Gothic"/>
              <a:buNone/>
            </a:pPr>
            <a:r>
              <a:rPr b="1" i="0" lang="ko-KR" sz="1300" u="none" cap="none" strike="noStrike">
                <a:solidFill>
                  <a:srgbClr val="08213A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부족형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5" name="Google Shape;325;g409d96ae0ac_1_40"/>
          <p:cNvSpPr/>
          <p:nvPr/>
        </p:nvSpPr>
        <p:spPr>
          <a:xfrm>
            <a:off x="1870126" y="4311077"/>
            <a:ext cx="1992300" cy="1084800"/>
          </a:xfrm>
          <a:prstGeom prst="rect">
            <a:avLst/>
          </a:prstGeom>
          <a:solidFill>
            <a:srgbClr val="FFF1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500"/>
              <a:buFont typeface="Malgun Gothic"/>
              <a:buNone/>
            </a:pPr>
            <a:r>
              <a:rPr b="0" i="0" lang="ko-KR" sz="130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“직무는 알지만 필요한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500"/>
              <a:buFont typeface="Malgun Gothic"/>
              <a:buNone/>
            </a:pPr>
            <a:r>
              <a:rPr b="0" i="0" lang="ko-KR" sz="130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기술을 못 다룬다”</a:t>
            </a:r>
            <a:endParaRPr b="0" i="0" sz="13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6" name="Google Shape;326;g409d96ae0ac_1_40"/>
          <p:cNvSpPr/>
          <p:nvPr/>
        </p:nvSpPr>
        <p:spPr>
          <a:xfrm>
            <a:off x="3862766" y="4311077"/>
            <a:ext cx="2094000" cy="1084800"/>
          </a:xfrm>
          <a:prstGeom prst="rect">
            <a:avLst/>
          </a:prstGeom>
          <a:solidFill>
            <a:srgbClr val="FFF1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50" lIns="1250" spcFirstLastPara="1" rIns="1250" wrap="square" tIns="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606"/>
              </a:buClr>
              <a:buSzPts val="1600"/>
              <a:buFont typeface="Malgun Gothic"/>
              <a:buNone/>
            </a:pPr>
            <a:r>
              <a:rPr b="1" i="0" lang="ko-KR" u="none" cap="none" strike="noStrike">
                <a:solidFill>
                  <a:srgbClr val="D85606"/>
                </a:solidFill>
                <a:latin typeface="Malgun Gothic"/>
                <a:ea typeface="Malgun Gothic"/>
                <a:cs typeface="Malgun Gothic"/>
                <a:sym typeface="Malgun Gothic"/>
              </a:rPr>
              <a:t>특정 기술·도구·전문지식</a:t>
            </a:r>
            <a:endParaRPr b="0" i="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85606"/>
              </a:buClr>
              <a:buSzPts val="1600"/>
              <a:buFont typeface="Malgun Gothic"/>
              <a:buNone/>
            </a:pPr>
            <a:r>
              <a:rPr b="1" i="0" lang="ko-KR" u="none" cap="none" strike="noStrike">
                <a:solidFill>
                  <a:srgbClr val="D85606"/>
                </a:solidFill>
                <a:latin typeface="Malgun Gothic"/>
                <a:ea typeface="Malgun Gothic"/>
                <a:cs typeface="Malgun Gothic"/>
                <a:sym typeface="Malgun Gothic"/>
              </a:rPr>
              <a:t>습득</a:t>
            </a:r>
            <a:endParaRPr b="0" i="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7" name="Google Shape;327;g409d96ae0ac_1_40"/>
          <p:cNvSpPr/>
          <p:nvPr/>
        </p:nvSpPr>
        <p:spPr>
          <a:xfrm>
            <a:off x="5956726" y="4311077"/>
            <a:ext cx="3039600" cy="1084800"/>
          </a:xfrm>
          <a:prstGeom prst="rect">
            <a:avLst/>
          </a:prstGeom>
          <a:solidFill>
            <a:srgbClr val="FFF1E5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2025" lIns="2025" spcFirstLastPara="1" rIns="2025" wrap="square" tIns="20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370"/>
              <a:buFont typeface="Malgun Gothic"/>
              <a:buNone/>
            </a:pPr>
            <a:r>
              <a:rPr b="0" i="0" lang="ko-KR" sz="117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SQL, AWS, Linux, Git, ERP, GMP,</a:t>
            </a:r>
            <a:endParaRPr b="0" i="0" sz="117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B2D"/>
              </a:buClr>
              <a:buSzPts val="1370"/>
              <a:buFont typeface="Malgun Gothic"/>
              <a:buNone/>
            </a:pPr>
            <a:r>
              <a:rPr b="0" i="0" lang="ko-KR" sz="1170" u="none" cap="none" strike="noStrike">
                <a:solidFill>
                  <a:srgbClr val="0B1B2D"/>
                </a:solidFill>
                <a:latin typeface="Malgun Gothic"/>
                <a:ea typeface="Malgun Gothic"/>
                <a:cs typeface="Malgun Gothic"/>
                <a:sym typeface="Malgun Gothic"/>
              </a:rPr>
              <a:t>QA/QC, 반도체 공정, Valuation 등</a:t>
            </a:r>
            <a:endParaRPr b="0" i="0" sz="117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8" name="Google Shape;328;g409d96ae0ac_1_40"/>
          <p:cNvSpPr/>
          <p:nvPr/>
        </p:nvSpPr>
        <p:spPr>
          <a:xfrm>
            <a:off x="181096" y="1102100"/>
            <a:ext cx="53454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213A"/>
              </a:buClr>
              <a:buSzPts val="1363"/>
              <a:buFont typeface="Malgun Gothic"/>
              <a:buNone/>
            </a:pPr>
            <a:r>
              <a:rPr b="1" i="0" lang="ko-KR" sz="1363" u="none" cap="none" strike="noStrike">
                <a:solidFill>
                  <a:srgbClr val="08213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직무 부트캠프 유형별 특징 및 분류 근거</a:t>
            </a:r>
            <a:endParaRPr b="0" i="0" sz="1363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9" name="Google Shape;329;g409d96ae0ac_1_40"/>
          <p:cNvSpPr txBox="1"/>
          <p:nvPr/>
        </p:nvSpPr>
        <p:spPr>
          <a:xfrm>
            <a:off x="-59750" y="6485075"/>
            <a:ext cx="4397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00"/>
              <a:t>💡 </a:t>
            </a:r>
            <a:r>
              <a:rPr b="1" lang="ko-KR" sz="900"/>
              <a:t>Note:</a:t>
            </a:r>
            <a:r>
              <a:rPr lang="ko-KR" sz="900"/>
              <a:t> </a:t>
            </a:r>
            <a:r>
              <a:rPr lang="ko-KR" sz="900"/>
              <a:t>직무 부트캠프를 캠프 추천 가치 기준으로 재정리한 표입니다.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5" name="Google Shape;335;g409d9cb7e79_0_17"/>
          <p:cNvGraphicFramePr/>
          <p:nvPr/>
        </p:nvGraphicFramePr>
        <p:xfrm>
          <a:off x="112738" y="12577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{A9A987C8-4B4C-4435-97A4-3E4B7B9A9D6B}</a:tableStyleId>
              </a:tblPr>
              <a:tblGrid>
                <a:gridCol w="2233300"/>
                <a:gridCol w="3126625"/>
                <a:gridCol w="3573375"/>
              </a:tblGrid>
              <a:tr h="749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유저 고민 유형 (비중)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매핑되는 캠프 유형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매핑 근거 및 상세 설명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직무 미결정</a:t>
                      </a: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(23.2%)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방향성 혼란형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"어떤 직무가 맞을지 모르겠다" → 직무 탐색·체험 중심의 캠프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스펙 부족</a:t>
                      </a: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(41.1%)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스킬/툴 부족형 + 직무 경험 부족형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"자격증이 없다" → 도구/스킬 학습 및 실무 프로젝트 병행 필요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952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인턴 경험 없음</a:t>
                      </a: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(6.6%)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직무 경험 부족형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"경험이 없다" → 프로젝트·포트폴리오 산출물 중심 캠프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7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자소서/면접</a:t>
                      </a: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(23.0%)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직무 경험 부족형 (간접)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부트캠프 결과물 자체가 자소서 및 면접의 핵심 소재로 활용됨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76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이직 고민</a:t>
                      </a: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(6.0%)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방향성 혼란형 + 직무 경험 부족형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직무 전환 탐색 및 새로운 분야의 실무 프로젝트 요구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336" name="Google Shape;336;g409d9cb7e79_0_17"/>
          <p:cNvSpPr/>
          <p:nvPr/>
        </p:nvSpPr>
        <p:spPr>
          <a:xfrm>
            <a:off x="167878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409d9cb7e79_0_17"/>
          <p:cNvSpPr txBox="1"/>
          <p:nvPr/>
        </p:nvSpPr>
        <p:spPr>
          <a:xfrm>
            <a:off x="310750" y="183350"/>
            <a:ext cx="88332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방법 A</a:t>
            </a: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: 유저 QnA 5유형 ↔ 캠프 3유형 매핑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8" name="Google Shape;338;g409d9cb7e79_0_17"/>
          <p:cNvSpPr txBox="1"/>
          <p:nvPr/>
        </p:nvSpPr>
        <p:spPr>
          <a:xfrm>
            <a:off x="367903" y="714800"/>
            <a:ext cx="5498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기존 조원들의 캠프 키워드 분류 기준과 유저 고민 유형 간의 매핑 관계 (총 499건 분석)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409d96ae0ac_1_68"/>
          <p:cNvSpPr/>
          <p:nvPr/>
        </p:nvSpPr>
        <p:spPr>
          <a:xfrm>
            <a:off x="167878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409d96ae0ac_1_68"/>
          <p:cNvSpPr txBox="1"/>
          <p:nvPr/>
        </p:nvSpPr>
        <p:spPr>
          <a:xfrm>
            <a:off x="310753" y="183350"/>
            <a:ext cx="81411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방법 B: 매핑 브릿지 테이블 구조화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46" name="Google Shape;346;g409d96ae0ac_1_68"/>
          <p:cNvSpPr txBox="1"/>
          <p:nvPr/>
        </p:nvSpPr>
        <p:spPr>
          <a:xfrm>
            <a:off x="367900" y="714800"/>
            <a:ext cx="5610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유저 고민의 관심 분야 키워드와 캠프의 속성(산업/직군/태그)을 명확하게 연결하는 중간 테이블 정의</a:t>
            </a:r>
            <a:endParaRPr sz="105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47" name="Google Shape;347;g409d96ae0ac_1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528075"/>
            <a:ext cx="8839202" cy="101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g409d96ae0ac_1_68"/>
          <p:cNvSpPr txBox="1"/>
          <p:nvPr/>
        </p:nvSpPr>
        <p:spPr>
          <a:xfrm>
            <a:off x="310750" y="5912450"/>
            <a:ext cx="8468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solidFill>
                  <a:srgbClr val="156534"/>
                </a:solidFill>
              </a:rPr>
              <a:t>초기 구축 작업이 필요하지만, 한 번 정의해두면 매핑 관계가 논리적으로 명확해지며 유저에게 "왜 이 캠프를 추천했는지"에 대한 </a:t>
            </a:r>
            <a:r>
              <a:rPr b="1" lang="ko-KR" sz="1100">
                <a:solidFill>
                  <a:srgbClr val="156534"/>
                </a:solidFill>
              </a:rPr>
              <a:t>설명 가능한 추천(Explainable Recommendation)</a:t>
            </a:r>
            <a:r>
              <a:rPr lang="ko-KR" sz="1100">
                <a:solidFill>
                  <a:srgbClr val="156534"/>
                </a:solidFill>
              </a:rPr>
              <a:t>이 가능합니다.</a:t>
            </a:r>
            <a:endParaRPr sz="1100">
              <a:solidFill>
                <a:srgbClr val="156534"/>
              </a:solidFill>
            </a:endParaRPr>
          </a:p>
        </p:txBody>
      </p:sp>
      <p:sp>
        <p:nvSpPr>
          <p:cNvPr id="349" name="Google Shape;349;g409d96ae0ac_1_68"/>
          <p:cNvSpPr txBox="1"/>
          <p:nvPr/>
        </p:nvSpPr>
        <p:spPr>
          <a:xfrm>
            <a:off x="310750" y="56327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156534"/>
                </a:solidFill>
              </a:rPr>
              <a:t>브릿지 테이블의 장점</a:t>
            </a:r>
            <a:endParaRPr b="1" sz="1100">
              <a:solidFill>
                <a:srgbClr val="156534"/>
              </a:solidFill>
            </a:endParaRPr>
          </a:p>
        </p:txBody>
      </p:sp>
      <p:pic>
        <p:nvPicPr>
          <p:cNvPr id="350" name="Google Shape;350;g409d96ae0ac_1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5175" y="5727825"/>
            <a:ext cx="140400" cy="1638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1" name="Google Shape;351;g409d96ae0ac_1_68"/>
          <p:cNvGraphicFramePr/>
          <p:nvPr/>
        </p:nvGraphicFramePr>
        <p:xfrm>
          <a:off x="1003979" y="1499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{0076B1BD-1B71-45DC-B12F-3ED06088C10C}</a:tableStyleId>
              </a:tblPr>
              <a:tblGrid>
                <a:gridCol w="2413000"/>
                <a:gridCol w="2413000"/>
                <a:gridCol w="2413000"/>
              </a:tblGrid>
              <a:tr h="56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유저 관심 분야 키워드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캠프 산업 매칭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캠프 직군 매칭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반도체, 공정, 설계, 회로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반도체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엔지니어링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품질, QC, 검사, 관리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공통(전산업)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품질 관리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방향, 모르겠음, 적성, 진로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(해당 없음)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- (해당 없음)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6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화공, 플랜트, 에너지, 배터리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2차전지/배터리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엔지니어링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67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데이터, 분석, 파이썬, 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IT/데이터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분석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g409d9cb7e79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47" y="4524381"/>
            <a:ext cx="1714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409d9cb7e79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350" y="3594636"/>
            <a:ext cx="1714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409d9cb7e79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50" y="2658861"/>
            <a:ext cx="171450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409d9cb7e79_3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50" y="1665198"/>
            <a:ext cx="171450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409d9cb7e79_3_8"/>
          <p:cNvSpPr txBox="1"/>
          <p:nvPr/>
        </p:nvSpPr>
        <p:spPr>
          <a:xfrm>
            <a:off x="302019" y="733914"/>
            <a:ext cx="8399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81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자동화의 효율성과 구조화의 정확성을 결합한 프로세스 설계 방안</a:t>
            </a:r>
            <a:endParaRPr sz="1102"/>
          </a:p>
        </p:txBody>
      </p:sp>
      <p:sp>
        <p:nvSpPr>
          <p:cNvPr id="362" name="Google Shape;362;g409d9cb7e79_3_8"/>
          <p:cNvSpPr txBox="1"/>
          <p:nvPr/>
        </p:nvSpPr>
        <p:spPr>
          <a:xfrm>
            <a:off x="470051" y="1653379"/>
            <a:ext cx="4551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63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방법 A: 키워드 교차 매칭 (자동화)</a:t>
            </a:r>
            <a:r>
              <a:rPr b="0" i="0" lang="ko-KR" sz="1263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유저 QnA 텍스트에서 캠프 키워드를 직접 추출. 스크립트를 통한 빠른 대량 적용이 가능하나, 정확한 키워드가 없을 경우 추천 누락 리스크가 존재함.</a:t>
            </a:r>
            <a:endParaRPr sz="1302"/>
          </a:p>
        </p:txBody>
      </p:sp>
      <p:sp>
        <p:nvSpPr>
          <p:cNvPr id="363" name="Google Shape;363;g409d9cb7e79_3_8"/>
          <p:cNvSpPr txBox="1"/>
          <p:nvPr/>
        </p:nvSpPr>
        <p:spPr>
          <a:xfrm>
            <a:off x="470051" y="2646069"/>
            <a:ext cx="4551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63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방법 B: 매핑 브릿지 테이블 (구조화)</a:t>
            </a:r>
            <a:r>
              <a:rPr b="0" i="0" lang="ko-KR" sz="1263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관심 키워드와 캠프 속성을 잇는 중간 테이블 활용. 설명 가능한 논리적 추천이 가능하나, 초기 수동 매핑 정의 작업이 요구됨.</a:t>
            </a:r>
            <a:endParaRPr sz="1302"/>
          </a:p>
        </p:txBody>
      </p:sp>
      <p:sp>
        <p:nvSpPr>
          <p:cNvPr id="364" name="Google Shape;364;g409d9cb7e79_3_8"/>
          <p:cNvSpPr txBox="1"/>
          <p:nvPr/>
        </p:nvSpPr>
        <p:spPr>
          <a:xfrm>
            <a:off x="470051" y="3581846"/>
            <a:ext cx="4551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63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최종 전략: 하이브리드 결합 방식</a:t>
            </a:r>
            <a:r>
              <a:rPr b="0" i="0" lang="ko-KR" sz="1263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브릿지 테이블(B)로 전체적인 뼈대와 기본 매핑 구조를 잡은 후, 키워드 교차 매칭(A) 시스템을 얹어 세밀한 추천 근거를 자동 생성하는 프로세스 구축.</a:t>
            </a:r>
            <a:endParaRPr sz="1302"/>
          </a:p>
        </p:txBody>
      </p:sp>
      <p:sp>
        <p:nvSpPr>
          <p:cNvPr id="365" name="Google Shape;365;g409d9cb7e79_3_8"/>
          <p:cNvSpPr txBox="1"/>
          <p:nvPr/>
        </p:nvSpPr>
        <p:spPr>
          <a:xfrm>
            <a:off x="470051" y="4517624"/>
            <a:ext cx="4551900" cy="8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263" u="none" cap="none" strike="noStrik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Next Step 실행 과제</a:t>
            </a:r>
            <a:r>
              <a:rPr b="0" i="0" lang="ko-KR" sz="1263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499건의 기존 QnA 데이터에 3가지 캠프 유형 태깅 완료 및 유저 관심 키워드를 기반으로 캠프 산업/직군을 자동 매핑하는 스크립트 확장 구현.</a:t>
            </a:r>
            <a:endParaRPr sz="1302"/>
          </a:p>
        </p:txBody>
      </p:sp>
      <p:pic>
        <p:nvPicPr>
          <p:cNvPr id="366" name="Google Shape;366;g409d9cb7e79_3_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2381" y="1725275"/>
            <a:ext cx="3174593" cy="2974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g409d9cb7e79_3_8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g409d9cb7e79_3_8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최종: A + B 결합 하이브리드 연결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4" name="Google Shape;374;g3fb5b8e4078_0_8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48" y="1138115"/>
            <a:ext cx="4726632" cy="126967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3fb5b8e4078_0_817"/>
          <p:cNvSpPr/>
          <p:nvPr/>
        </p:nvSpPr>
        <p:spPr>
          <a:xfrm>
            <a:off x="430500" y="2599125"/>
            <a:ext cx="1062900" cy="237600"/>
          </a:xfrm>
          <a:prstGeom prst="roundRect">
            <a:avLst>
              <a:gd fmla="val 1346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g3fb5b8e4078_0_817"/>
          <p:cNvSpPr/>
          <p:nvPr/>
        </p:nvSpPr>
        <p:spPr>
          <a:xfrm>
            <a:off x="492224" y="2639484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Malgun Gothic"/>
              <a:buNone/>
            </a:pPr>
            <a:r>
              <a:rPr b="1" i="0" lang="ko-KR" sz="112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프로세스</a:t>
            </a:r>
            <a:endParaRPr b="1" i="0" sz="11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7" name="Google Shape;377;g3fb5b8e4078_0_817"/>
          <p:cNvSpPr/>
          <p:nvPr/>
        </p:nvSpPr>
        <p:spPr>
          <a:xfrm>
            <a:off x="440775" y="3362599"/>
            <a:ext cx="1062900" cy="237600"/>
          </a:xfrm>
          <a:prstGeom prst="roundRect">
            <a:avLst>
              <a:gd fmla="val 1346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fb5b8e4078_0_817"/>
          <p:cNvSpPr/>
          <p:nvPr/>
        </p:nvSpPr>
        <p:spPr>
          <a:xfrm>
            <a:off x="494143" y="3402958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Malgun Gothic"/>
              <a:buNone/>
            </a:pPr>
            <a:r>
              <a:rPr b="1" i="0" lang="ko-KR" sz="112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정보 공유 방식</a:t>
            </a:r>
            <a:endParaRPr b="0" i="0" sz="11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9" name="Google Shape;379;g3fb5b8e4078_0_817"/>
          <p:cNvSpPr/>
          <p:nvPr/>
        </p:nvSpPr>
        <p:spPr>
          <a:xfrm>
            <a:off x="451050" y="4126081"/>
            <a:ext cx="1062900" cy="237600"/>
          </a:xfrm>
          <a:prstGeom prst="roundRect">
            <a:avLst>
              <a:gd fmla="val 1346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g3fb5b8e4078_0_817"/>
          <p:cNvSpPr/>
          <p:nvPr/>
        </p:nvSpPr>
        <p:spPr>
          <a:xfrm>
            <a:off x="504418" y="4166440"/>
            <a:ext cx="96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Malgun Gothic"/>
              <a:buNone/>
            </a:pPr>
            <a:r>
              <a:rPr b="1" i="0" lang="ko-KR" sz="112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노출 한계</a:t>
            </a:r>
            <a:endParaRPr b="0" i="0" sz="11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1" name="Google Shape;381;g3fb5b8e4078_0_817"/>
          <p:cNvSpPr/>
          <p:nvPr/>
        </p:nvSpPr>
        <p:spPr>
          <a:xfrm>
            <a:off x="461325" y="4889559"/>
            <a:ext cx="1062900" cy="237600"/>
          </a:xfrm>
          <a:prstGeom prst="roundRect">
            <a:avLst>
              <a:gd fmla="val 1346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g3fb5b8e4078_0_817"/>
          <p:cNvSpPr/>
          <p:nvPr/>
        </p:nvSpPr>
        <p:spPr>
          <a:xfrm>
            <a:off x="514695" y="4929930"/>
            <a:ext cx="1062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Malgun Gothic"/>
              <a:buNone/>
            </a:pPr>
            <a:r>
              <a:rPr b="1" i="0" lang="ko-KR" sz="112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반복/시간 소요</a:t>
            </a:r>
            <a:endParaRPr b="0" i="0" sz="11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descr="/mnt/data/wide_office_illustration_a_modern_tech_analytics.png" id="383" name="Google Shape;383;g3fb5b8e4078_0_817"/>
          <p:cNvPicPr preferRelativeResize="0"/>
          <p:nvPr/>
        </p:nvPicPr>
        <p:blipFill rotWithShape="1">
          <a:blip r:embed="rId4">
            <a:alphaModFix/>
          </a:blip>
          <a:srcRect b="0" l="7678" r="7670" t="0"/>
          <a:stretch/>
        </p:blipFill>
        <p:spPr>
          <a:xfrm>
            <a:off x="5121903" y="1765232"/>
            <a:ext cx="3528001" cy="345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g3fb5b8e4078_0_817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g3fb5b8e4078_0_817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인터뷰 (커뮤니티 QnA)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86" name="Google Shape;386;g3fb5b8e4078_0_817"/>
          <p:cNvSpPr txBox="1"/>
          <p:nvPr/>
        </p:nvSpPr>
        <p:spPr>
          <a:xfrm>
            <a:off x="302019" y="733914"/>
            <a:ext cx="8399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181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ko-KR" sz="118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문제 정의: QnA 운영 현황 및 추천 연계 한계</a:t>
            </a:r>
            <a:endParaRPr sz="1102"/>
          </a:p>
        </p:txBody>
      </p:sp>
      <p:sp>
        <p:nvSpPr>
          <p:cNvPr id="387" name="Google Shape;387;g3fb5b8e4078_0_817"/>
          <p:cNvSpPr txBox="1"/>
          <p:nvPr/>
        </p:nvSpPr>
        <p:spPr>
          <a:xfrm>
            <a:off x="356274" y="1654444"/>
            <a:ext cx="4488300" cy="5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20"/>
              <a:buFont typeface="Malgun Gothic"/>
              <a:buNone/>
            </a:pPr>
            <a:r>
              <a:rPr lang="ko-KR" sz="1275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QnA 서비스 운영, 커뮤니티 유저 행동 지표·전환율 점검, 고객센터 문의 및 신고 내역 확인 담당. QnA 답변 지원 인력은 2명으로 소수 운영되어 업무 효율화가 중요</a:t>
            </a:r>
            <a:r>
              <a:rPr lang="ko-KR" sz="132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</p:txBody>
      </p:sp>
      <p:sp>
        <p:nvSpPr>
          <p:cNvPr id="388" name="Google Shape;388;g3fb5b8e4078_0_817"/>
          <p:cNvSpPr txBox="1"/>
          <p:nvPr/>
        </p:nvSpPr>
        <p:spPr>
          <a:xfrm>
            <a:off x="497263" y="2861165"/>
            <a:ext cx="46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10"/>
              <a:buFont typeface="Malgun Gothic"/>
              <a:buNone/>
            </a:pP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QnA를 매일 실시간으로 보는 구조가 아닌, 주 1회 커뮤니티 지표·전환율·신고 내역을 점검</a:t>
            </a:r>
            <a:r>
              <a:rPr lang="ko-KR" sz="131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.</a:t>
            </a:r>
            <a:endParaRPr/>
          </a:p>
        </p:txBody>
      </p:sp>
      <p:sp>
        <p:nvSpPr>
          <p:cNvPr id="389" name="Google Shape;389;g3fb5b8e4078_0_817"/>
          <p:cNvSpPr txBox="1"/>
          <p:nvPr/>
        </p:nvSpPr>
        <p:spPr>
          <a:xfrm>
            <a:off x="497263" y="3619297"/>
            <a:ext cx="46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10"/>
              <a:buFont typeface="Malgun Gothic"/>
              <a:buNone/>
            </a:pP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데일리 회의인 ‘스크럼’으로 이슈를 공유하고, 실험 학습점은 노션·구글 스프레드시트로 기록/시각화.</a:t>
            </a:r>
            <a:endParaRPr/>
          </a:p>
        </p:txBody>
      </p:sp>
      <p:sp>
        <p:nvSpPr>
          <p:cNvPr id="390" name="Google Shape;390;g3fb5b8e4078_0_817"/>
          <p:cNvSpPr txBox="1"/>
          <p:nvPr/>
        </p:nvSpPr>
        <p:spPr>
          <a:xfrm>
            <a:off x="497263" y="4377429"/>
            <a:ext cx="46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10"/>
              <a:buFont typeface="Malgun Gothic"/>
              <a:buNone/>
            </a:pP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맞춤피드 광고배너는 별도 우선순위 없이 랜덤 노출되어, QnA 맥락 기반 추천 노출 로직이 부재.</a:t>
            </a:r>
            <a:endParaRPr/>
          </a:p>
        </p:txBody>
      </p:sp>
      <p:sp>
        <p:nvSpPr>
          <p:cNvPr id="391" name="Google Shape;391;g3fb5b8e4078_0_817"/>
          <p:cNvSpPr txBox="1"/>
          <p:nvPr/>
        </p:nvSpPr>
        <p:spPr>
          <a:xfrm>
            <a:off x="495463" y="5156177"/>
            <a:ext cx="46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10"/>
              <a:buFont typeface="Malgun Gothic"/>
              <a:buNone/>
            </a:pP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데이터·퍼널 분석, 이용자 문의 맥락 파악, AI 분석 결과 더블체크와 데이터 정합성 검증에 시간 소요.</a:t>
            </a:r>
            <a:endParaRPr/>
          </a:p>
        </p:txBody>
      </p:sp>
      <p:pic>
        <p:nvPicPr>
          <p:cNvPr id="392" name="Google Shape;392;g3fb5b8e4078_0_8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685" y="2892957"/>
            <a:ext cx="100800" cy="14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g3fb5b8e4078_0_8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685" y="3632671"/>
            <a:ext cx="100800" cy="14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g3fb5b8e4078_0_8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675" y="4396210"/>
            <a:ext cx="100800" cy="14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g3fb5b8e4078_0_8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675" y="5173236"/>
            <a:ext cx="100800" cy="14616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g3fb5b8e4078_0_817"/>
          <p:cNvSpPr txBox="1"/>
          <p:nvPr/>
        </p:nvSpPr>
        <p:spPr>
          <a:xfrm>
            <a:off x="623204" y="1318729"/>
            <a:ext cx="443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인터뷰 대상: </a:t>
            </a:r>
            <a:r>
              <a:rPr b="1" lang="ko-KR" sz="1500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커뮤니티 QnA 담당자</a:t>
            </a:r>
            <a:endParaRPr/>
          </a:p>
        </p:txBody>
      </p:sp>
      <p:pic>
        <p:nvPicPr>
          <p:cNvPr id="397" name="Google Shape;397;g3fb5b8e4078_0_8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0913" y="1339429"/>
            <a:ext cx="186253" cy="1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fb5b8e4078_0_847"/>
          <p:cNvSpPr/>
          <p:nvPr/>
        </p:nvSpPr>
        <p:spPr>
          <a:xfrm>
            <a:off x="82298" y="1086879"/>
            <a:ext cx="8971200" cy="7848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fb5b8e4078_0_847"/>
          <p:cNvSpPr/>
          <p:nvPr/>
        </p:nvSpPr>
        <p:spPr>
          <a:xfrm>
            <a:off x="82298" y="1408176"/>
            <a:ext cx="120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Malgun Gothic"/>
              <a:buNone/>
            </a:pPr>
            <a:r>
              <a:rPr b="1" i="0" lang="ko-KR" sz="13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영역</a:t>
            </a:r>
            <a:endParaRPr b="0" i="0" sz="13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5" name="Google Shape;405;g3fb5b8e4078_0_847"/>
          <p:cNvSpPr/>
          <p:nvPr/>
        </p:nvSpPr>
        <p:spPr>
          <a:xfrm>
            <a:off x="1282480" y="1408176"/>
            <a:ext cx="3737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Malgun Gothic"/>
              <a:buNone/>
            </a:pPr>
            <a:r>
              <a:rPr b="1" i="0" lang="ko-KR" sz="13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추천 판단 기준</a:t>
            </a:r>
            <a:endParaRPr b="0" i="0" sz="13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6" name="Google Shape;406;g3fb5b8e4078_0_847"/>
          <p:cNvSpPr/>
          <p:nvPr/>
        </p:nvSpPr>
        <p:spPr>
          <a:xfrm>
            <a:off x="5020190" y="1408176"/>
            <a:ext cx="4032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20"/>
              <a:buFont typeface="Malgun Gothic"/>
              <a:buNone/>
            </a:pPr>
            <a:r>
              <a:rPr b="1" i="0" lang="ko-KR" sz="132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현황 및 과제 (필요한 데이터)</a:t>
            </a:r>
            <a:endParaRPr b="0" i="0" sz="13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7" name="Google Shape;407;g3fb5b8e4078_0_847"/>
          <p:cNvSpPr/>
          <p:nvPr/>
        </p:nvSpPr>
        <p:spPr>
          <a:xfrm>
            <a:off x="82298" y="1883664"/>
            <a:ext cx="8970600" cy="11886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g3fb5b8e4078_0_847"/>
          <p:cNvSpPr/>
          <p:nvPr/>
        </p:nvSpPr>
        <p:spPr>
          <a:xfrm>
            <a:off x="82298" y="1883664"/>
            <a:ext cx="1200300" cy="11886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g3fb5b8e4078_0_847"/>
          <p:cNvSpPr/>
          <p:nvPr/>
        </p:nvSpPr>
        <p:spPr>
          <a:xfrm>
            <a:off x="185171" y="2185416"/>
            <a:ext cx="99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Malgun Gothic"/>
              <a:buNone/>
            </a:pPr>
            <a:r>
              <a:rPr b="1" i="0" lang="ko-KR" sz="135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직무 코드</a:t>
            </a:r>
            <a:endParaRPr b="0" i="0" sz="13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Malgun Gothic"/>
              <a:buNone/>
            </a:pPr>
            <a:r>
              <a:rPr b="1" i="0" lang="ko-KR" sz="135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매칭</a:t>
            </a:r>
            <a:endParaRPr b="0" i="0" sz="13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g3fb5b8e4078_0_847"/>
          <p:cNvSpPr/>
          <p:nvPr/>
        </p:nvSpPr>
        <p:spPr>
          <a:xfrm>
            <a:off x="1351062" y="2011680"/>
            <a:ext cx="3600600" cy="9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b="0" i="0" lang="ko-KR" sz="126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QnA 내용에서 선호 직무코드 추출</a:t>
            </a:r>
            <a:endParaRPr b="0" i="0" sz="12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b="0" i="0" lang="ko-KR" sz="126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직무코드 ↔ 캠프 정보 연결</a:t>
            </a:r>
            <a:endParaRPr b="0" i="0" sz="12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b="0" i="0" lang="ko-KR" sz="126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직무명·산업·직무질문 표현 표준화</a:t>
            </a:r>
            <a:endParaRPr b="0" i="0" sz="12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1" name="Google Shape;411;g3fb5b8e4078_0_847"/>
          <p:cNvSpPr/>
          <p:nvPr/>
        </p:nvSpPr>
        <p:spPr>
          <a:xfrm>
            <a:off x="5123063" y="2160872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g3fb5b8e4078_0_847"/>
          <p:cNvSpPr/>
          <p:nvPr/>
        </p:nvSpPr>
        <p:spPr>
          <a:xfrm>
            <a:off x="5143637" y="2197448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가능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3" name="Google Shape;413;g3fb5b8e4078_0_847"/>
          <p:cNvSpPr/>
          <p:nvPr/>
        </p:nvSpPr>
        <p:spPr>
          <a:xfrm>
            <a:off x="5740299" y="2103120"/>
            <a:ext cx="31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직무부트캠프는 직무코드 단위로 식별/관리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4" name="Google Shape;414;g3fb5b8e4078_0_847"/>
          <p:cNvSpPr/>
          <p:nvPr/>
        </p:nvSpPr>
        <p:spPr>
          <a:xfrm>
            <a:off x="5123063" y="2667794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b5b8e4078_0_847"/>
          <p:cNvSpPr/>
          <p:nvPr/>
        </p:nvSpPr>
        <p:spPr>
          <a:xfrm>
            <a:off x="5143637" y="2704370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6" name="Google Shape;416;g3fb5b8e4078_0_847"/>
          <p:cNvSpPr/>
          <p:nvPr/>
        </p:nvSpPr>
        <p:spPr>
          <a:xfrm>
            <a:off x="5740299" y="2606040"/>
            <a:ext cx="31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0" i="0" lang="ko-KR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QnA 텍스트에서 직무코드 자동 추출·태그화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g3fb5b8e4078_0_847"/>
          <p:cNvSpPr/>
          <p:nvPr/>
        </p:nvSpPr>
        <p:spPr>
          <a:xfrm>
            <a:off x="82298" y="3072384"/>
            <a:ext cx="8970600" cy="1143000"/>
          </a:xfrm>
          <a:prstGeom prst="rect">
            <a:avLst/>
          </a:prstGeom>
          <a:solidFill>
            <a:srgbClr val="E2E8F0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g3fb5b8e4078_0_847"/>
          <p:cNvSpPr/>
          <p:nvPr/>
        </p:nvSpPr>
        <p:spPr>
          <a:xfrm>
            <a:off x="82298" y="3072384"/>
            <a:ext cx="1200300" cy="1143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g3fb5b8e4078_0_847"/>
          <p:cNvSpPr/>
          <p:nvPr/>
        </p:nvSpPr>
        <p:spPr>
          <a:xfrm>
            <a:off x="185171" y="3374136"/>
            <a:ext cx="99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Malgun Gothic"/>
              <a:buNone/>
            </a:pPr>
            <a:r>
              <a:rPr b="1" i="0" lang="ko-KR" sz="135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고민</a:t>
            </a:r>
            <a:endParaRPr b="0" i="0" sz="13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Malgun Gothic"/>
              <a:buNone/>
            </a:pPr>
            <a:r>
              <a:rPr b="1" i="0" lang="ko-KR" sz="135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/아바타</a:t>
            </a:r>
            <a:endParaRPr b="0" i="0" sz="13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0" name="Google Shape;420;g3fb5b8e4078_0_847"/>
          <p:cNvSpPr/>
          <p:nvPr/>
        </p:nvSpPr>
        <p:spPr>
          <a:xfrm>
            <a:off x="1351062" y="3200400"/>
            <a:ext cx="36006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lang="ko-KR" sz="126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인턴경험 부족·스펙 강화 니즈</a:t>
            </a:r>
            <a:endParaRPr sz="126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lang="ko-KR" sz="126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짧은 기간 직무경험/적성 확인 니즈</a:t>
            </a:r>
            <a:endParaRPr sz="1260">
              <a:solidFill>
                <a:srgbClr val="1E293B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lang="ko-KR" sz="1260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현재 관심사와 입력 정보 일치 여부</a:t>
            </a:r>
            <a:endParaRPr b="0" i="0" sz="12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1" name="Google Shape;421;g3fb5b8e4078_0_847"/>
          <p:cNvSpPr/>
          <p:nvPr/>
        </p:nvSpPr>
        <p:spPr>
          <a:xfrm>
            <a:off x="5123063" y="3341588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fb5b8e4078_0_847"/>
          <p:cNvSpPr/>
          <p:nvPr/>
        </p:nvSpPr>
        <p:spPr>
          <a:xfrm>
            <a:off x="5143637" y="3378164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가능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3" name="Google Shape;423;g3fb5b8e4078_0_847"/>
          <p:cNvSpPr/>
          <p:nvPr/>
        </p:nvSpPr>
        <p:spPr>
          <a:xfrm>
            <a:off x="5740299" y="3291840"/>
            <a:ext cx="31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프로필의 </a:t>
            </a:r>
            <a:r>
              <a:rPr b="1" i="0" lang="ko-KR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전공·</a:t>
            </a:r>
            <a:r>
              <a:rPr b="1" i="0" lang="ko-KR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관심 직무 데이터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4" name="Google Shape;424;g3fb5b8e4078_0_847"/>
          <p:cNvSpPr/>
          <p:nvPr/>
        </p:nvSpPr>
        <p:spPr>
          <a:xfrm>
            <a:off x="5123063" y="3788478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b5b8e4078_0_847"/>
          <p:cNvSpPr/>
          <p:nvPr/>
        </p:nvSpPr>
        <p:spPr>
          <a:xfrm>
            <a:off x="5143637" y="3825054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필요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6" name="Google Shape;426;g3fb5b8e4078_0_847"/>
          <p:cNvSpPr/>
          <p:nvPr/>
        </p:nvSpPr>
        <p:spPr>
          <a:xfrm>
            <a:off x="5740300" y="3753600"/>
            <a:ext cx="331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0" i="0" lang="ko-KR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QnA 질문에서 현재 관심사·고민 유형 로그 추출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7" name="Google Shape;427;g3fb5b8e4078_0_847"/>
          <p:cNvSpPr/>
          <p:nvPr/>
        </p:nvSpPr>
        <p:spPr>
          <a:xfrm>
            <a:off x="82298" y="4215384"/>
            <a:ext cx="8970600" cy="118800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g3fb5b8e4078_0_847"/>
          <p:cNvSpPr/>
          <p:nvPr/>
        </p:nvSpPr>
        <p:spPr>
          <a:xfrm>
            <a:off x="82298" y="4215384"/>
            <a:ext cx="1200300" cy="118800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b5b8e4078_0_847"/>
          <p:cNvSpPr/>
          <p:nvPr/>
        </p:nvSpPr>
        <p:spPr>
          <a:xfrm>
            <a:off x="185171" y="4517136"/>
            <a:ext cx="9945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Malgun Gothic"/>
              <a:buNone/>
            </a:pPr>
            <a:r>
              <a:rPr b="1" i="0" lang="ko-KR" sz="135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운영 효율</a:t>
            </a:r>
            <a:endParaRPr b="0" i="0" sz="13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50"/>
              <a:buFont typeface="Malgun Gothic"/>
              <a:buNone/>
            </a:pPr>
            <a:r>
              <a:rPr b="1" i="0" lang="ko-KR" sz="135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/품질 검증</a:t>
            </a:r>
            <a:endParaRPr b="0" i="0" sz="13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0" name="Google Shape;430;g3fb5b8e4078_0_847"/>
          <p:cNvSpPr/>
          <p:nvPr/>
        </p:nvSpPr>
        <p:spPr>
          <a:xfrm>
            <a:off x="1351062" y="4343400"/>
            <a:ext cx="3600600" cy="9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0" lIns="250" spcFirstLastPara="1" rIns="250" wrap="square" tIns="25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b="0" i="0" lang="ko-KR" sz="126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고객센터 문의 맥락 파악 및 해결안 정리</a:t>
            </a:r>
            <a:endParaRPr b="0" i="0" sz="12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b="0" i="0" lang="ko-KR" sz="126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AI 분석 결과의 할루시네이션 더블체크</a:t>
            </a:r>
            <a:endParaRPr b="0" i="0" sz="12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60"/>
              <a:buFont typeface="Malgun Gothic"/>
              <a:buNone/>
            </a:pPr>
            <a:r>
              <a:rPr b="0" i="0" lang="ko-KR" sz="126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 - 데이터·퍼널 분석 및 코호트화</a:t>
            </a:r>
            <a:endParaRPr b="0" i="0" sz="12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1" name="Google Shape;431;g3fb5b8e4078_0_847"/>
          <p:cNvSpPr/>
          <p:nvPr/>
        </p:nvSpPr>
        <p:spPr>
          <a:xfrm>
            <a:off x="5123063" y="4484588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3fb5b8e4078_0_847"/>
          <p:cNvSpPr/>
          <p:nvPr/>
        </p:nvSpPr>
        <p:spPr>
          <a:xfrm>
            <a:off x="5143637" y="4521164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가능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3" name="Google Shape;433;g3fb5b8e4078_0_847"/>
          <p:cNvSpPr/>
          <p:nvPr/>
        </p:nvSpPr>
        <p:spPr>
          <a:xfrm>
            <a:off x="5740299" y="4434840"/>
            <a:ext cx="31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1" i="0" lang="ko-KR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주간 유저 행동 지표·전환율·신고 내역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4" name="Google Shape;434;g3fb5b8e4078_0_847"/>
          <p:cNvSpPr/>
          <p:nvPr/>
        </p:nvSpPr>
        <p:spPr>
          <a:xfrm>
            <a:off x="5123063" y="4891457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g3fb5b8e4078_0_847"/>
          <p:cNvSpPr/>
          <p:nvPr/>
        </p:nvSpPr>
        <p:spPr>
          <a:xfrm>
            <a:off x="5143637" y="4928033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g3fb5b8e4078_0_847"/>
          <p:cNvSpPr/>
          <p:nvPr/>
        </p:nvSpPr>
        <p:spPr>
          <a:xfrm>
            <a:off x="5740299" y="4937760"/>
            <a:ext cx="317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Malgun Gothic"/>
              <a:buNone/>
            </a:pPr>
            <a:r>
              <a:rPr b="0" i="0" lang="ko-KR" sz="1200" u="none" cap="none" strike="noStrike">
                <a:solidFill>
                  <a:srgbClr val="1E293B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결과 검증 기준과 관리자 수정/피드백 루프 필요</a:t>
            </a:r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7" name="Google Shape;437;g3fb5b8e4078_0_847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g3fb5b8e4078_0_847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인터뷰 (커뮤니티 QnA)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39" name="Google Shape;439;g3fb5b8e4078_0_847"/>
          <p:cNvSpPr txBox="1"/>
          <p:nvPr/>
        </p:nvSpPr>
        <p:spPr>
          <a:xfrm>
            <a:off x="302019" y="733914"/>
            <a:ext cx="8399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</a:t>
            </a:r>
            <a:r>
              <a:rPr b="0" i="0" lang="ko-KR" sz="1181" u="none" cap="none" strike="noStrik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r>
              <a:rPr lang="ko-KR" sz="118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QnA </a:t>
            </a:r>
            <a:r>
              <a:rPr lang="ko-KR" sz="118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기반 캠프 추천 고도화를 위한 판단 기준 및 데이터 요건</a:t>
            </a:r>
            <a:endParaRPr sz="1102"/>
          </a:p>
        </p:txBody>
      </p:sp>
      <p:pic>
        <p:nvPicPr>
          <p:cNvPr id="440" name="Google Shape;440;g3fb5b8e4078_0_8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07" y="5695125"/>
            <a:ext cx="8848425" cy="10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g3fb5b8e4078_0_847"/>
          <p:cNvSpPr txBox="1"/>
          <p:nvPr/>
        </p:nvSpPr>
        <p:spPr>
          <a:xfrm>
            <a:off x="830232" y="5828900"/>
            <a:ext cx="8175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25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Next Step: </a:t>
            </a:r>
            <a:r>
              <a:rPr b="1" lang="ko-KR" sz="1425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QnA 직무코드 추출 + 유저 고민 코호트화 기반 추천 로직 고도화</a:t>
            </a:r>
            <a:endParaRPr/>
          </a:p>
        </p:txBody>
      </p:sp>
      <p:sp>
        <p:nvSpPr>
          <p:cNvPr id="442" name="Google Shape;442;g3fb5b8e4078_0_847"/>
          <p:cNvSpPr txBox="1"/>
          <p:nvPr/>
        </p:nvSpPr>
        <p:spPr>
          <a:xfrm>
            <a:off x="830232" y="6143225"/>
            <a:ext cx="8175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QnA에서 직무코드와 고민 유형을 함께 추출하고, AI 추천 결과를 운영자가 검증·수정할 수 있는 데이터 피드백 체계를 설계해야 합니다.</a:t>
            </a:r>
            <a:endParaRPr sz="1200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443" name="Google Shape;443;g3fb5b8e4078_0_8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74" y="6064881"/>
            <a:ext cx="306000" cy="30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g3fb5c7ba911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648" y="1138115"/>
            <a:ext cx="4726632" cy="1269676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g3fb5c7ba911_1_6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g3fb5c7ba911_1_6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인터뷰 (부트캠프 EM)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51" name="Google Shape;451;g3fb5c7ba911_1_6"/>
          <p:cNvSpPr txBox="1"/>
          <p:nvPr/>
        </p:nvSpPr>
        <p:spPr>
          <a:xfrm>
            <a:off x="623204" y="1318729"/>
            <a:ext cx="4432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500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인터뷰 대상: 직무 부트캠프 운영 EM</a:t>
            </a:r>
            <a:endParaRPr/>
          </a:p>
        </p:txBody>
      </p:sp>
      <p:pic>
        <p:nvPicPr>
          <p:cNvPr id="452" name="Google Shape;452;g3fb5c7ba911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800" y="1963953"/>
            <a:ext cx="3525151" cy="3457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g3fb5c7ba911_1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0913" y="1339429"/>
            <a:ext cx="186253" cy="18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g3fb5c7ba911_1_6"/>
          <p:cNvSpPr txBox="1"/>
          <p:nvPr/>
        </p:nvSpPr>
        <p:spPr>
          <a:xfrm>
            <a:off x="302024" y="733925"/>
            <a:ext cx="65262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1. 문제 정의: 직무 부트캠프 운영 현황 및 한계</a:t>
            </a:r>
            <a:endParaRPr sz="1102"/>
          </a:p>
        </p:txBody>
      </p:sp>
      <p:sp>
        <p:nvSpPr>
          <p:cNvPr id="455" name="Google Shape;455;g3fb5c7ba911_1_6"/>
          <p:cNvSpPr txBox="1"/>
          <p:nvPr/>
        </p:nvSpPr>
        <p:spPr>
          <a:xfrm>
            <a:off x="356274" y="1754707"/>
            <a:ext cx="44883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20"/>
              <a:buNone/>
            </a:pPr>
            <a:r>
              <a:rPr lang="ko-KR" sz="1275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월 100~250개(연 2,000개) 캠프 생산/운영/품질관리 총괄. 약 200명의 멘토 풀 관리 및 신규 캠프 기획 담당.</a:t>
            </a:r>
            <a:endParaRPr/>
          </a:p>
        </p:txBody>
      </p:sp>
      <p:sp>
        <p:nvSpPr>
          <p:cNvPr id="456" name="Google Shape;456;g3fb5c7ba911_1_6"/>
          <p:cNvSpPr/>
          <p:nvPr/>
        </p:nvSpPr>
        <p:spPr>
          <a:xfrm>
            <a:off x="430500" y="2599125"/>
            <a:ext cx="2016000" cy="237600"/>
          </a:xfrm>
          <a:prstGeom prst="roundRect">
            <a:avLst>
              <a:gd fmla="val 1346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g3fb5c7ba911_1_6"/>
          <p:cNvSpPr/>
          <p:nvPr/>
        </p:nvSpPr>
        <p:spPr>
          <a:xfrm>
            <a:off x="480220" y="2647832"/>
            <a:ext cx="1980000" cy="14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Malgun Gothic"/>
              <a:buNone/>
            </a:pPr>
            <a:r>
              <a:rPr b="1" lang="ko-KR" sz="112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데이터 연동 파이프라인 부재</a:t>
            </a:r>
            <a:endParaRPr b="1" i="0" sz="11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8" name="Google Shape;458;g3fb5c7ba911_1_6"/>
          <p:cNvSpPr/>
          <p:nvPr/>
        </p:nvSpPr>
        <p:spPr>
          <a:xfrm>
            <a:off x="440775" y="3362599"/>
            <a:ext cx="2016000" cy="237600"/>
          </a:xfrm>
          <a:prstGeom prst="roundRect">
            <a:avLst>
              <a:gd fmla="val 1346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g3fb5c7ba911_1_6"/>
          <p:cNvSpPr/>
          <p:nvPr/>
        </p:nvSpPr>
        <p:spPr>
          <a:xfrm>
            <a:off x="494143" y="3402958"/>
            <a:ext cx="198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Malgun Gothic"/>
              <a:buNone/>
            </a:pPr>
            <a:r>
              <a:rPr b="1" lang="ko-KR" sz="112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과도한 수동/반복 업무 의존</a:t>
            </a:r>
            <a:endParaRPr b="0" i="0" sz="11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0" name="Google Shape;460;g3fb5c7ba911_1_6"/>
          <p:cNvSpPr/>
          <p:nvPr/>
        </p:nvSpPr>
        <p:spPr>
          <a:xfrm>
            <a:off x="451050" y="4126081"/>
            <a:ext cx="2016000" cy="237600"/>
          </a:xfrm>
          <a:prstGeom prst="roundRect">
            <a:avLst>
              <a:gd fmla="val 1346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fb5c7ba911_1_6"/>
          <p:cNvSpPr/>
          <p:nvPr/>
        </p:nvSpPr>
        <p:spPr>
          <a:xfrm>
            <a:off x="504418" y="4166440"/>
            <a:ext cx="198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Malgun Gothic"/>
              <a:buNone/>
            </a:pPr>
            <a:r>
              <a:rPr b="1" lang="ko-KR" sz="112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비정형 데이터의 </a:t>
            </a:r>
            <a:r>
              <a:rPr b="1" i="0" lang="ko-KR" sz="1120" u="none" cap="none" strike="noStrike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한계</a:t>
            </a:r>
            <a:endParaRPr b="0" i="0" sz="11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g3fb5c7ba911_1_6"/>
          <p:cNvSpPr/>
          <p:nvPr/>
        </p:nvSpPr>
        <p:spPr>
          <a:xfrm>
            <a:off x="461325" y="4889559"/>
            <a:ext cx="2016000" cy="237600"/>
          </a:xfrm>
          <a:prstGeom prst="roundRect">
            <a:avLst>
              <a:gd fmla="val 13462" name="adj"/>
            </a:avLst>
          </a:prstGeom>
          <a:solidFill>
            <a:srgbClr val="DBEAFE"/>
          </a:solidFill>
          <a:ln cap="flat" cmpd="sng" w="12700">
            <a:solidFill>
              <a:srgbClr val="DBEA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g3fb5c7ba911_1_6"/>
          <p:cNvSpPr/>
          <p:nvPr/>
        </p:nvSpPr>
        <p:spPr>
          <a:xfrm>
            <a:off x="514695" y="4929930"/>
            <a:ext cx="19800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20"/>
              <a:buFont typeface="Malgun Gothic"/>
              <a:buNone/>
            </a:pPr>
            <a:r>
              <a:rPr b="1" lang="ko-KR" sz="1120">
                <a:solidFill>
                  <a:srgbClr val="0F172A"/>
                </a:solidFill>
                <a:latin typeface="Malgun Gothic"/>
                <a:ea typeface="Malgun Gothic"/>
                <a:cs typeface="Malgun Gothic"/>
                <a:sym typeface="Malgun Gothic"/>
              </a:rPr>
              <a:t>To-Be (JTBD) 도달 목표</a:t>
            </a:r>
            <a:endParaRPr b="0" i="0" sz="11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4" name="Google Shape;464;g3fb5c7ba911_1_6"/>
          <p:cNvSpPr txBox="1"/>
          <p:nvPr/>
        </p:nvSpPr>
        <p:spPr>
          <a:xfrm>
            <a:off x="497263" y="2861165"/>
            <a:ext cx="46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10"/>
              <a:buNone/>
            </a:pP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커뮤니티 </a:t>
            </a: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QnA</a:t>
            </a: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와 부트캠프가 별개 서비스로 설계되어, 유저가 남긴 고민에 적합한 캠프가 자동으로 추천되지 않음.</a:t>
            </a:r>
            <a:endParaRPr/>
          </a:p>
        </p:txBody>
      </p:sp>
      <p:sp>
        <p:nvSpPr>
          <p:cNvPr id="465" name="Google Shape;465;g3fb5c7ba911_1_6"/>
          <p:cNvSpPr txBox="1"/>
          <p:nvPr/>
        </p:nvSpPr>
        <p:spPr>
          <a:xfrm>
            <a:off x="497263" y="3619297"/>
            <a:ext cx="46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10"/>
              <a:buNone/>
            </a:pP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수백 명의 멘토 소통 및 캠프 개설 일정을 담당자가 100% 수동으로 조율하여 업무 확장성 한계 및 리소스 낭비 발생.</a:t>
            </a:r>
            <a:endParaRPr/>
          </a:p>
        </p:txBody>
      </p:sp>
      <p:sp>
        <p:nvSpPr>
          <p:cNvPr id="466" name="Google Shape;466;g3fb5c7ba911_1_6"/>
          <p:cNvSpPr txBox="1"/>
          <p:nvPr/>
        </p:nvSpPr>
        <p:spPr>
          <a:xfrm>
            <a:off x="497263" y="4377429"/>
            <a:ext cx="46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10"/>
              <a:buNone/>
            </a:pP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대부분의 캠프 소개/커리큘럼이 표준화되지 않은 ‘줄글(Text)’ 형태이며, 캠프별 정보량 편차가 심해 자동화 매칭에 어려움 존재.</a:t>
            </a:r>
            <a:endParaRPr/>
          </a:p>
        </p:txBody>
      </p:sp>
      <p:sp>
        <p:nvSpPr>
          <p:cNvPr id="467" name="Google Shape;467;g3fb5c7ba911_1_6"/>
          <p:cNvSpPr txBox="1"/>
          <p:nvPr/>
        </p:nvSpPr>
        <p:spPr>
          <a:xfrm>
            <a:off x="495463" y="5156177"/>
            <a:ext cx="4661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310"/>
              <a:buNone/>
            </a:pP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유저 QnA 텍스트를 기반으로 적합한 캠프를 </a:t>
            </a:r>
            <a:r>
              <a:rPr b="1"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자동 매칭/추천</a:t>
            </a:r>
            <a:r>
              <a:rPr lang="ko-KR" sz="1350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하고, 내부 데이터를 기반으로 신규 기획을 자동화하는 기반 마련.</a:t>
            </a:r>
            <a:endParaRPr/>
          </a:p>
        </p:txBody>
      </p:sp>
      <p:pic>
        <p:nvPicPr>
          <p:cNvPr id="468" name="Google Shape;468;g3fb5c7ba911_1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685" y="2892957"/>
            <a:ext cx="100800" cy="141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g3fb5c7ba911_1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685" y="3632671"/>
            <a:ext cx="100800" cy="14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fb5c7ba911_1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675" y="4396210"/>
            <a:ext cx="100800" cy="146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fb5c7ba911_1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8675" y="5173236"/>
            <a:ext cx="100800" cy="146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Google Shape;476;g3fb5c7ba911_1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807" y="5695125"/>
            <a:ext cx="8848425" cy="106945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3fb5c7ba911_1_50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g3fb5c7ba911_1_50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담당자 인터뷰 (부트캠프 EM)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479" name="Google Shape;479;g3fb5c7ba911_1_50"/>
          <p:cNvSpPr txBox="1"/>
          <p:nvPr/>
        </p:nvSpPr>
        <p:spPr>
          <a:xfrm>
            <a:off x="302019" y="733914"/>
            <a:ext cx="8399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81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2. 캠프 매칭 고도화를 위한 판단 기준 및 데이터 요건</a:t>
            </a:r>
            <a:endParaRPr sz="1102"/>
          </a:p>
        </p:txBody>
      </p:sp>
      <p:graphicFrame>
        <p:nvGraphicFramePr>
          <p:cNvPr id="480" name="Google Shape;480;g3fb5c7ba911_1_50"/>
          <p:cNvGraphicFramePr/>
          <p:nvPr/>
        </p:nvGraphicFramePr>
        <p:xfrm>
          <a:off x="76660" y="113131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{A9A987C8-4B4C-4435-97A4-3E4B7B9A9D6B}</a:tableStyleId>
              </a:tblPr>
              <a:tblGrid>
                <a:gridCol w="1206925"/>
                <a:gridCol w="3788775"/>
                <a:gridCol w="4024550"/>
              </a:tblGrid>
              <a:tr h="1089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영역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매칭 판단 기준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425" u="none" cap="none" strike="noStrike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데이터 현황 및 과제 (</a:t>
                      </a:r>
                      <a:r>
                        <a:rPr lang="ko-KR" sz="1425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필요한 데이터)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10656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직무 매칭도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QnA 내용 ↔ 직무 코드 (대/중/소) 연결</a:t>
                      </a:r>
                      <a:b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목표 직무 유사도에 따른 추천 순위 정렬</a:t>
                      </a:r>
                      <a:b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공통 역량 및 멘토별 특화 역량 반영</a:t>
                      </a:r>
                      <a:endParaRPr sz="125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5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   </a:t>
                      </a: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</a:t>
                      </a:r>
                      <a:r>
                        <a:rPr b="0" i="0" lang="ko-KR" sz="12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직무 코드/NCS 매칭 데이터 (4~500개)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ko-KR" sz="135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  </a:t>
                      </a: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</a:t>
                      </a:r>
                      <a:r>
                        <a:rPr b="0" i="0" lang="ko-KR" sz="12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텍스트 위주 캠프 소개의 </a:t>
                      </a:r>
                      <a:r>
                        <a:rPr b="1" i="0" lang="ko-KR" sz="12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표준화된 속성 데이터화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9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유저 맞춤형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계열(이공계 vs 문과) 기반 선행지식 난이도</a:t>
                      </a:r>
                      <a:b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직무별 코멘토픽 검색 순위 및 구매 전환율</a:t>
                      </a:r>
                      <a:b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멘티의 현재 준비 상태(스펙/인턴 유무)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5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  </a:t>
                      </a:r>
                      <a:r>
                        <a:rPr b="0" i="0" lang="ko-KR" sz="135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</a:t>
                      </a:r>
                      <a:r>
                        <a:rPr b="0" i="0" lang="ko-KR" sz="12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검색 순위 및 분야별 캠프 전환율 데이터</a:t>
                      </a:r>
                      <a:endParaRPr b="0" i="0" sz="1200" u="none" cap="none" strike="noStrike">
                        <a:solidFill>
                          <a:srgbClr val="334155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ko-KR" sz="18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lang="ko-KR" sz="135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    </a:t>
                      </a:r>
                      <a:r>
                        <a:rPr b="0" i="0" lang="ko-KR" sz="12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특정 키워드 검색 후 실제 신청까지 이어진 '유저 단위 전환' 상세 로그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95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35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품질 검증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캠프별 평균 평점 기준 컷오프</a:t>
                      </a:r>
                      <a:b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</a:br>
                      <a:r>
                        <a:rPr lang="ko-KR" sz="1250">
                          <a:solidFill>
                            <a:srgbClr val="1E293B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만족도 높은 대표 리뷰(후기) 추출 및 노출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sz="135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           </a:t>
                      </a:r>
                      <a:r>
                        <a:rPr b="0" i="0" lang="ko-KR" sz="12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후기, </a:t>
                      </a:r>
                      <a:r>
                        <a:rPr lang="ko-KR" sz="1200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평점,</a:t>
                      </a:r>
                      <a:r>
                        <a:rPr b="0" i="0" lang="ko-KR" sz="1200" u="none" cap="none" strike="noStrike">
                          <a:solidFill>
                            <a:srgbClr val="334155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 멘티 피드백 및 설문조사 결과</a:t>
                      </a:r>
                      <a:endParaRPr sz="12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1" name="Google Shape;481;g3fb5c7ba911_1_50"/>
          <p:cNvSpPr txBox="1"/>
          <p:nvPr/>
        </p:nvSpPr>
        <p:spPr>
          <a:xfrm>
            <a:off x="830232" y="5828900"/>
            <a:ext cx="81750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425" u="none" cap="none" strike="noStrik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Next Step: 타 부서 협업 기반의 추천 로직 고도화</a:t>
            </a:r>
            <a:endParaRPr/>
          </a:p>
        </p:txBody>
      </p:sp>
      <p:sp>
        <p:nvSpPr>
          <p:cNvPr id="482" name="Google Shape;482;g3fb5c7ba911_1_50"/>
          <p:cNvSpPr txBox="1"/>
          <p:nvPr/>
        </p:nvSpPr>
        <p:spPr>
          <a:xfrm>
            <a:off x="830232" y="6143225"/>
            <a:ext cx="8175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부트캠프 팀이 단독으로 알고리즘을 변경할 수 없으므로, 현재 보유한 </a:t>
            </a:r>
            <a:r>
              <a:rPr b="1" i="0" lang="ko-KR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'직무 코드'</a:t>
            </a:r>
            <a:r>
              <a:rPr b="0" i="0" lang="ko-KR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및 </a:t>
            </a:r>
            <a:r>
              <a:rPr b="1" i="0" lang="ko-KR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'전환율 데이터'</a:t>
            </a:r>
            <a:r>
              <a:rPr b="0" i="0" lang="ko-KR" sz="1200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 정제하여 QnA 담당자 및 알고리즘 팀에 제공하는 실무 연동 체계를 우선적으로 구축해야 합니다.</a:t>
            </a:r>
            <a:endParaRPr/>
          </a:p>
        </p:txBody>
      </p:sp>
      <p:pic>
        <p:nvPicPr>
          <p:cNvPr id="483" name="Google Shape;483;g3fb5c7ba911_1_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74" y="6064881"/>
            <a:ext cx="306000" cy="3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g3fb5c7ba911_1_50"/>
          <p:cNvSpPr/>
          <p:nvPr/>
        </p:nvSpPr>
        <p:spPr>
          <a:xfrm>
            <a:off x="5114463" y="2414872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g3fb5c7ba911_1_50"/>
          <p:cNvSpPr/>
          <p:nvPr/>
        </p:nvSpPr>
        <p:spPr>
          <a:xfrm>
            <a:off x="5135037" y="2451448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가능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6" name="Google Shape;486;g3fb5c7ba911_1_50"/>
          <p:cNvSpPr/>
          <p:nvPr/>
        </p:nvSpPr>
        <p:spPr>
          <a:xfrm>
            <a:off x="5114463" y="2897219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3fb5c7ba911_1_50"/>
          <p:cNvSpPr/>
          <p:nvPr/>
        </p:nvSpPr>
        <p:spPr>
          <a:xfrm>
            <a:off x="5135037" y="2933795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과제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8" name="Google Shape;488;g3fb5c7ba911_1_50"/>
          <p:cNvSpPr/>
          <p:nvPr/>
        </p:nvSpPr>
        <p:spPr>
          <a:xfrm>
            <a:off x="5114463" y="3390861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fb5c7ba911_1_50"/>
          <p:cNvSpPr/>
          <p:nvPr/>
        </p:nvSpPr>
        <p:spPr>
          <a:xfrm>
            <a:off x="5135037" y="3427437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가능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0" name="Google Shape;490;g3fb5c7ba911_1_50"/>
          <p:cNvSpPr/>
          <p:nvPr/>
        </p:nvSpPr>
        <p:spPr>
          <a:xfrm>
            <a:off x="5123063" y="3857751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FEE2E2"/>
          </a:solidFill>
          <a:ln cap="flat" cmpd="sng" w="12700">
            <a:solidFill>
              <a:srgbClr val="FEE2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g3fb5c7ba911_1_50"/>
          <p:cNvSpPr/>
          <p:nvPr/>
        </p:nvSpPr>
        <p:spPr>
          <a:xfrm>
            <a:off x="5143637" y="3894327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DC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추가 필요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92" name="Google Shape;492;g3fb5c7ba911_1_50"/>
          <p:cNvSpPr/>
          <p:nvPr/>
        </p:nvSpPr>
        <p:spPr>
          <a:xfrm>
            <a:off x="5114463" y="4820359"/>
            <a:ext cx="534900" cy="219600"/>
          </a:xfrm>
          <a:prstGeom prst="roundRect">
            <a:avLst>
              <a:gd fmla="val 16667" name="adj"/>
            </a:avLst>
          </a:prstGeom>
          <a:solidFill>
            <a:srgbClr val="DCFCE7"/>
          </a:solidFill>
          <a:ln cap="flat" cmpd="sng" w="12700">
            <a:solidFill>
              <a:srgbClr val="DCFC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3fb5c7ba911_1_50"/>
          <p:cNvSpPr/>
          <p:nvPr/>
        </p:nvSpPr>
        <p:spPr>
          <a:xfrm>
            <a:off x="5135037" y="4856935"/>
            <a:ext cx="493800" cy="13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5803D"/>
              </a:buClr>
              <a:buSzPts val="850"/>
              <a:buFont typeface="Malgun Gothic"/>
              <a:buNone/>
            </a:pPr>
            <a:r>
              <a:rPr b="1" i="0" lang="ko-KR" sz="850" u="none" cap="none" strike="noStrike">
                <a:solidFill>
                  <a:srgbClr val="15803D"/>
                </a:solidFill>
                <a:latin typeface="Malgun Gothic"/>
                <a:ea typeface="Malgun Gothic"/>
                <a:cs typeface="Malgun Gothic"/>
                <a:sym typeface="Malgun Gothic"/>
              </a:rPr>
              <a:t>활용 가능</a:t>
            </a:r>
            <a:endParaRPr b="0" i="0" sz="8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b5b8e4078_0_89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g3fb5b8e4078_0_89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QnA ↔ 부트캠프 업무 플로우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descr="15페이지의 내용을 슬라이드로 만들어줘" id="500" name="Google Shape;500;g3fb5b8e4078_0_89"/>
          <p:cNvPicPr preferRelativeResize="0"/>
          <p:nvPr/>
        </p:nvPicPr>
        <p:blipFill rotWithShape="1">
          <a:blip r:embed="rId3">
            <a:alphaModFix/>
          </a:blip>
          <a:srcRect b="0" l="0" r="0" t="14683"/>
          <a:stretch/>
        </p:blipFill>
        <p:spPr>
          <a:xfrm>
            <a:off x="0" y="1257738"/>
            <a:ext cx="9144000" cy="434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6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6"/>
          <p:cNvSpPr txBox="1"/>
          <p:nvPr/>
        </p:nvSpPr>
        <p:spPr>
          <a:xfrm>
            <a:off x="302225" y="183350"/>
            <a:ext cx="73710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유저 QnA 데이터와 직무 부트캠프 데이터 연결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descr="image.png" id="507" name="Google Shape;507;p6"/>
          <p:cNvSpPr/>
          <p:nvPr/>
        </p:nvSpPr>
        <p:spPr>
          <a:xfrm>
            <a:off x="13800" y="3530164"/>
            <a:ext cx="9143952" cy="1110674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08" name="Google Shape;508;p6"/>
          <p:cNvSpPr/>
          <p:nvPr/>
        </p:nvSpPr>
        <p:spPr>
          <a:xfrm>
            <a:off x="13800" y="4640839"/>
            <a:ext cx="9143952" cy="885068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09" name="Google Shape;509;p6"/>
          <p:cNvSpPr/>
          <p:nvPr/>
        </p:nvSpPr>
        <p:spPr>
          <a:xfrm>
            <a:off x="13800" y="5525908"/>
            <a:ext cx="9143952" cy="991673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0" name="Google Shape;510;p6"/>
          <p:cNvSpPr/>
          <p:nvPr/>
        </p:nvSpPr>
        <p:spPr>
          <a:xfrm>
            <a:off x="644417" y="3540081"/>
            <a:ext cx="1418889" cy="1100757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1" name="Google Shape;511;p6"/>
          <p:cNvSpPr/>
          <p:nvPr/>
        </p:nvSpPr>
        <p:spPr>
          <a:xfrm>
            <a:off x="2063306" y="3540081"/>
            <a:ext cx="1418889" cy="1100757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2" name="Google Shape;512;p6"/>
          <p:cNvSpPr/>
          <p:nvPr/>
        </p:nvSpPr>
        <p:spPr>
          <a:xfrm>
            <a:off x="3482195" y="3540081"/>
            <a:ext cx="1418889" cy="1100757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3" name="Google Shape;513;p6"/>
          <p:cNvSpPr/>
          <p:nvPr/>
        </p:nvSpPr>
        <p:spPr>
          <a:xfrm>
            <a:off x="4901084" y="3540081"/>
            <a:ext cx="1418889" cy="1100757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4" name="Google Shape;514;p6"/>
          <p:cNvSpPr/>
          <p:nvPr/>
        </p:nvSpPr>
        <p:spPr>
          <a:xfrm>
            <a:off x="6319973" y="3540081"/>
            <a:ext cx="1418889" cy="1100757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5" name="Google Shape;515;p6"/>
          <p:cNvSpPr/>
          <p:nvPr/>
        </p:nvSpPr>
        <p:spPr>
          <a:xfrm>
            <a:off x="7738862" y="3540081"/>
            <a:ext cx="1418889" cy="1100757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6" name="Google Shape;516;p6"/>
          <p:cNvSpPr/>
          <p:nvPr/>
        </p:nvSpPr>
        <p:spPr>
          <a:xfrm>
            <a:off x="644417" y="4650755"/>
            <a:ext cx="1418889" cy="875151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7" name="Google Shape;517;p6"/>
          <p:cNvSpPr/>
          <p:nvPr/>
        </p:nvSpPr>
        <p:spPr>
          <a:xfrm>
            <a:off x="2063306" y="4650755"/>
            <a:ext cx="1418889" cy="875151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8" name="Google Shape;518;p6"/>
          <p:cNvSpPr/>
          <p:nvPr/>
        </p:nvSpPr>
        <p:spPr>
          <a:xfrm>
            <a:off x="3482195" y="4650755"/>
            <a:ext cx="1418889" cy="875151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19" name="Google Shape;519;p6"/>
          <p:cNvSpPr/>
          <p:nvPr/>
        </p:nvSpPr>
        <p:spPr>
          <a:xfrm>
            <a:off x="4901084" y="4650755"/>
            <a:ext cx="1418889" cy="875151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20" name="Google Shape;520;p6"/>
          <p:cNvSpPr/>
          <p:nvPr/>
        </p:nvSpPr>
        <p:spPr>
          <a:xfrm>
            <a:off x="6319973" y="4650755"/>
            <a:ext cx="1418889" cy="875151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21" name="Google Shape;521;p6"/>
          <p:cNvSpPr/>
          <p:nvPr/>
        </p:nvSpPr>
        <p:spPr>
          <a:xfrm>
            <a:off x="7738862" y="4650755"/>
            <a:ext cx="1418889" cy="875151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22" name="Google Shape;522;p6"/>
          <p:cNvSpPr/>
          <p:nvPr/>
        </p:nvSpPr>
        <p:spPr>
          <a:xfrm>
            <a:off x="1275035" y="2037551"/>
            <a:ext cx="220716" cy="277669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23" name="Google Shape;523;p6"/>
          <p:cNvSpPr/>
          <p:nvPr/>
        </p:nvSpPr>
        <p:spPr>
          <a:xfrm>
            <a:off x="2693924" y="2037551"/>
            <a:ext cx="220716" cy="277669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24" name="Google Shape;524;p6"/>
          <p:cNvSpPr/>
          <p:nvPr/>
        </p:nvSpPr>
        <p:spPr>
          <a:xfrm>
            <a:off x="4112812" y="2037551"/>
            <a:ext cx="220716" cy="277669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25" name="Google Shape;525;p6"/>
          <p:cNvSpPr/>
          <p:nvPr/>
        </p:nvSpPr>
        <p:spPr>
          <a:xfrm>
            <a:off x="5531701" y="2037551"/>
            <a:ext cx="220716" cy="277669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26" name="Google Shape;526;p6"/>
          <p:cNvSpPr/>
          <p:nvPr/>
        </p:nvSpPr>
        <p:spPr>
          <a:xfrm>
            <a:off x="6950590" y="2037551"/>
            <a:ext cx="220716" cy="277669"/>
          </a:xfrm>
          <a:prstGeom prst="rect">
            <a:avLst/>
          </a:prstGeom>
          <a:noFill/>
          <a:ln>
            <a:noFill/>
          </a:ln>
        </p:spPr>
      </p:sp>
      <p:sp>
        <p:nvSpPr>
          <p:cNvPr descr="image.png" id="527" name="Google Shape;527;p6"/>
          <p:cNvSpPr/>
          <p:nvPr/>
        </p:nvSpPr>
        <p:spPr>
          <a:xfrm>
            <a:off x="8369479" y="2037551"/>
            <a:ext cx="220716" cy="277669"/>
          </a:xfrm>
          <a:prstGeom prst="rect">
            <a:avLst/>
          </a:prstGeom>
          <a:noFill/>
          <a:ln>
            <a:noFill/>
          </a:ln>
        </p:spPr>
      </p:sp>
      <p:sp>
        <p:nvSpPr>
          <p:cNvPr id="528" name="Google Shape;528;p6"/>
          <p:cNvSpPr/>
          <p:nvPr/>
        </p:nvSpPr>
        <p:spPr>
          <a:xfrm>
            <a:off x="644425" y="3539934"/>
            <a:ext cx="1419000" cy="2977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6"/>
          <p:cNvSpPr txBox="1"/>
          <p:nvPr/>
        </p:nvSpPr>
        <p:spPr>
          <a:xfrm>
            <a:off x="723250" y="5654825"/>
            <a:ext cx="13146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모든 Q</a:t>
            </a:r>
            <a:r>
              <a:rPr lang="ko-KR" sz="937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n</a:t>
            </a: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A를 추천 대상으로 보지 않고, 부트캠프로 해결 가능한 고민인지 1차 분류합니다.</a:t>
            </a:r>
            <a:endParaRPr/>
          </a:p>
        </p:txBody>
      </p:sp>
      <p:sp>
        <p:nvSpPr>
          <p:cNvPr id="530" name="Google Shape;530;p6"/>
          <p:cNvSpPr/>
          <p:nvPr/>
        </p:nvSpPr>
        <p:spPr>
          <a:xfrm>
            <a:off x="2063300" y="3539934"/>
            <a:ext cx="1419000" cy="29775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6"/>
          <p:cNvSpPr/>
          <p:nvPr/>
        </p:nvSpPr>
        <p:spPr>
          <a:xfrm>
            <a:off x="2055424" y="5535825"/>
            <a:ext cx="8100" cy="981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"/>
          <p:cNvSpPr txBox="1"/>
          <p:nvPr/>
        </p:nvSpPr>
        <p:spPr>
          <a:xfrm>
            <a:off x="2142133" y="5654826"/>
            <a:ext cx="1261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AI가 자연어를 구조화하여 핵심 정보를 추출합니다.</a:t>
            </a:r>
            <a:endParaRPr/>
          </a:p>
        </p:txBody>
      </p:sp>
      <p:sp>
        <p:nvSpPr>
          <p:cNvPr id="533" name="Google Shape;533;p6"/>
          <p:cNvSpPr/>
          <p:nvPr/>
        </p:nvSpPr>
        <p:spPr>
          <a:xfrm>
            <a:off x="3482200" y="3539934"/>
            <a:ext cx="1419000" cy="29775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6"/>
          <p:cNvSpPr/>
          <p:nvPr/>
        </p:nvSpPr>
        <p:spPr>
          <a:xfrm>
            <a:off x="3474312" y="5535825"/>
            <a:ext cx="8100" cy="981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6"/>
          <p:cNvSpPr txBox="1"/>
          <p:nvPr/>
        </p:nvSpPr>
        <p:spPr>
          <a:xfrm>
            <a:off x="3561022" y="5654826"/>
            <a:ext cx="1261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유저의 고민이 캠프로 해결 가능한지 판단합니다.</a:t>
            </a:r>
            <a:endParaRPr/>
          </a:p>
        </p:txBody>
      </p:sp>
      <p:sp>
        <p:nvSpPr>
          <p:cNvPr id="536" name="Google Shape;536;p6"/>
          <p:cNvSpPr/>
          <p:nvPr/>
        </p:nvSpPr>
        <p:spPr>
          <a:xfrm>
            <a:off x="4901075" y="3539934"/>
            <a:ext cx="1419000" cy="29775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6"/>
          <p:cNvSpPr/>
          <p:nvPr/>
        </p:nvSpPr>
        <p:spPr>
          <a:xfrm>
            <a:off x="4893201" y="5535825"/>
            <a:ext cx="8100" cy="981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6"/>
          <p:cNvSpPr txBox="1"/>
          <p:nvPr/>
        </p:nvSpPr>
        <p:spPr>
          <a:xfrm>
            <a:off x="4979911" y="5654826"/>
            <a:ext cx="12612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직무 코드 기반으로 관련 캠프를 탐색합니다.</a:t>
            </a:r>
            <a:endParaRPr/>
          </a:p>
        </p:txBody>
      </p:sp>
      <p:sp>
        <p:nvSpPr>
          <p:cNvPr id="539" name="Google Shape;539;p6"/>
          <p:cNvSpPr/>
          <p:nvPr/>
        </p:nvSpPr>
        <p:spPr>
          <a:xfrm>
            <a:off x="6319975" y="3539934"/>
            <a:ext cx="1419000" cy="29775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6"/>
          <p:cNvSpPr/>
          <p:nvPr/>
        </p:nvSpPr>
        <p:spPr>
          <a:xfrm>
            <a:off x="6312090" y="5535825"/>
            <a:ext cx="8100" cy="981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6"/>
          <p:cNvSpPr txBox="1"/>
          <p:nvPr/>
        </p:nvSpPr>
        <p:spPr>
          <a:xfrm>
            <a:off x="6398800" y="5654826"/>
            <a:ext cx="1261200" cy="7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여러 평가 요소를 종합해 캠프별 적합도를 산출하고 순위를 매깁니다.</a:t>
            </a:r>
            <a:endParaRPr/>
          </a:p>
        </p:txBody>
      </p:sp>
      <p:sp>
        <p:nvSpPr>
          <p:cNvPr id="542" name="Google Shape;542;p6"/>
          <p:cNvSpPr/>
          <p:nvPr/>
        </p:nvSpPr>
        <p:spPr>
          <a:xfrm>
            <a:off x="7738850" y="3540084"/>
            <a:ext cx="1419000" cy="297750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6"/>
          <p:cNvSpPr/>
          <p:nvPr/>
        </p:nvSpPr>
        <p:spPr>
          <a:xfrm>
            <a:off x="7730979" y="5535825"/>
            <a:ext cx="8100" cy="981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6"/>
          <p:cNvSpPr txBox="1"/>
          <p:nvPr/>
        </p:nvSpPr>
        <p:spPr>
          <a:xfrm>
            <a:off x="7817689" y="5654826"/>
            <a:ext cx="12612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관련성이 높은 캠프를 상단에 배치하고, 평점과 대표 후기</a:t>
            </a:r>
            <a:r>
              <a:rPr lang="ko-KR" sz="937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를</a:t>
            </a: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제공합니다.</a:t>
            </a:r>
            <a:endParaRPr/>
          </a:p>
        </p:txBody>
      </p:sp>
      <p:sp>
        <p:nvSpPr>
          <p:cNvPr id="545" name="Google Shape;545;p6"/>
          <p:cNvSpPr txBox="1"/>
          <p:nvPr/>
        </p:nvSpPr>
        <p:spPr>
          <a:xfrm>
            <a:off x="1022788" y="2374720"/>
            <a:ext cx="725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2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유저 고민 확인</a:t>
            </a:r>
            <a:endParaRPr/>
          </a:p>
        </p:txBody>
      </p:sp>
      <p:sp>
        <p:nvSpPr>
          <p:cNvPr descr="image.png" id="546" name="Google Shape;546;p6"/>
          <p:cNvSpPr/>
          <p:nvPr/>
        </p:nvSpPr>
        <p:spPr>
          <a:xfrm>
            <a:off x="1267152" y="2682139"/>
            <a:ext cx="236482" cy="238002"/>
          </a:xfrm>
          <a:prstGeom prst="rect">
            <a:avLst/>
          </a:prstGeom>
          <a:noFill/>
          <a:ln>
            <a:noFill/>
          </a:ln>
        </p:spPr>
      </p:sp>
      <p:sp>
        <p:nvSpPr>
          <p:cNvPr id="547" name="Google Shape;547;p6"/>
          <p:cNvSpPr txBox="1"/>
          <p:nvPr/>
        </p:nvSpPr>
        <p:spPr>
          <a:xfrm>
            <a:off x="2441677" y="2374720"/>
            <a:ext cx="725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2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정보 추출</a:t>
            </a:r>
            <a:endParaRPr/>
          </a:p>
        </p:txBody>
      </p:sp>
      <p:sp>
        <p:nvSpPr>
          <p:cNvPr descr="image.png" id="548" name="Google Shape;548;p6"/>
          <p:cNvSpPr/>
          <p:nvPr/>
        </p:nvSpPr>
        <p:spPr>
          <a:xfrm>
            <a:off x="2733337" y="2682139"/>
            <a:ext cx="141889" cy="238002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6"/>
          <p:cNvSpPr txBox="1"/>
          <p:nvPr/>
        </p:nvSpPr>
        <p:spPr>
          <a:xfrm>
            <a:off x="3734442" y="2374720"/>
            <a:ext cx="977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2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추천 대상 여부 판단</a:t>
            </a:r>
            <a:endParaRPr/>
          </a:p>
        </p:txBody>
      </p:sp>
      <p:sp>
        <p:nvSpPr>
          <p:cNvPr descr="image.png" id="550" name="Google Shape;550;p6"/>
          <p:cNvSpPr/>
          <p:nvPr/>
        </p:nvSpPr>
        <p:spPr>
          <a:xfrm>
            <a:off x="4128578" y="2682139"/>
            <a:ext cx="189185" cy="238002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6"/>
          <p:cNvSpPr txBox="1"/>
          <p:nvPr/>
        </p:nvSpPr>
        <p:spPr>
          <a:xfrm>
            <a:off x="5224275" y="2374720"/>
            <a:ext cx="835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2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적합한 캠프 탐색</a:t>
            </a:r>
            <a:endParaRPr/>
          </a:p>
        </p:txBody>
      </p:sp>
      <p:sp>
        <p:nvSpPr>
          <p:cNvPr descr="image.png" id="552" name="Google Shape;552;p6"/>
          <p:cNvSpPr/>
          <p:nvPr/>
        </p:nvSpPr>
        <p:spPr>
          <a:xfrm>
            <a:off x="5547467" y="2682139"/>
            <a:ext cx="189185" cy="238002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6"/>
          <p:cNvSpPr txBox="1"/>
          <p:nvPr/>
        </p:nvSpPr>
        <p:spPr>
          <a:xfrm>
            <a:off x="6643164" y="2374720"/>
            <a:ext cx="835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2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캠프 적합도 평가</a:t>
            </a:r>
            <a:endParaRPr/>
          </a:p>
        </p:txBody>
      </p:sp>
      <p:sp>
        <p:nvSpPr>
          <p:cNvPr descr="image.png" id="554" name="Google Shape;554;p6"/>
          <p:cNvSpPr/>
          <p:nvPr/>
        </p:nvSpPr>
        <p:spPr>
          <a:xfrm>
            <a:off x="6990004" y="2682139"/>
            <a:ext cx="141889" cy="238002"/>
          </a:xfrm>
          <a:prstGeom prst="rect">
            <a:avLst/>
          </a:prstGeom>
          <a:noFill/>
          <a:ln>
            <a:noFill/>
          </a:ln>
        </p:spPr>
      </p:sp>
      <p:sp>
        <p:nvSpPr>
          <p:cNvPr id="555" name="Google Shape;555;p6"/>
          <p:cNvSpPr txBox="1"/>
          <p:nvPr/>
        </p:nvSpPr>
        <p:spPr>
          <a:xfrm>
            <a:off x="8117232" y="2374720"/>
            <a:ext cx="7251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-KR" sz="1125" u="none" cap="none" strike="noStrik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추천 결과 도출</a:t>
            </a:r>
            <a:endParaRPr/>
          </a:p>
        </p:txBody>
      </p:sp>
      <p:sp>
        <p:nvSpPr>
          <p:cNvPr descr="image.png" id="556" name="Google Shape;556;p6"/>
          <p:cNvSpPr/>
          <p:nvPr/>
        </p:nvSpPr>
        <p:spPr>
          <a:xfrm>
            <a:off x="8373420" y="2682139"/>
            <a:ext cx="212833" cy="238002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6"/>
          <p:cNvSpPr txBox="1"/>
          <p:nvPr/>
        </p:nvSpPr>
        <p:spPr>
          <a:xfrm>
            <a:off x="809954" y="3657843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58" name="Google Shape;558;p6"/>
          <p:cNvSpPr txBox="1"/>
          <p:nvPr/>
        </p:nvSpPr>
        <p:spPr>
          <a:xfrm>
            <a:off x="841485" y="3659082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제목/내용</a:t>
            </a:r>
            <a:endParaRPr/>
          </a:p>
        </p:txBody>
      </p:sp>
      <p:sp>
        <p:nvSpPr>
          <p:cNvPr id="559" name="Google Shape;559;p6"/>
          <p:cNvSpPr txBox="1"/>
          <p:nvPr/>
        </p:nvSpPr>
        <p:spPr>
          <a:xfrm>
            <a:off x="809954" y="3883449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60" name="Google Shape;560;p6"/>
          <p:cNvSpPr txBox="1"/>
          <p:nvPr/>
        </p:nvSpPr>
        <p:spPr>
          <a:xfrm>
            <a:off x="841485" y="3884688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세부/그룹 카테고</a:t>
            </a:r>
            <a:r>
              <a:rPr lang="ko-KR" sz="937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리</a:t>
            </a:r>
            <a:endParaRPr/>
          </a:p>
        </p:txBody>
      </p:sp>
      <p:sp>
        <p:nvSpPr>
          <p:cNvPr id="561" name="Google Shape;561;p6"/>
          <p:cNvSpPr txBox="1"/>
          <p:nvPr/>
        </p:nvSpPr>
        <p:spPr>
          <a:xfrm>
            <a:off x="2228843" y="3657843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62" name="Google Shape;562;p6"/>
          <p:cNvSpPr txBox="1"/>
          <p:nvPr/>
        </p:nvSpPr>
        <p:spPr>
          <a:xfrm>
            <a:off x="2260374" y="3659082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질문 제목/내용</a:t>
            </a:r>
            <a:endParaRPr/>
          </a:p>
        </p:txBody>
      </p:sp>
      <p:sp>
        <p:nvSpPr>
          <p:cNvPr id="563" name="Google Shape;563;p6"/>
          <p:cNvSpPr txBox="1"/>
          <p:nvPr/>
        </p:nvSpPr>
        <p:spPr>
          <a:xfrm>
            <a:off x="3647732" y="3657843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64" name="Google Shape;564;p6"/>
          <p:cNvSpPr txBox="1"/>
          <p:nvPr/>
        </p:nvSpPr>
        <p:spPr>
          <a:xfrm>
            <a:off x="3679263" y="3659082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직무/산업</a:t>
            </a:r>
            <a:endParaRPr/>
          </a:p>
        </p:txBody>
      </p:sp>
      <p:sp>
        <p:nvSpPr>
          <p:cNvPr id="565" name="Google Shape;565;p6"/>
          <p:cNvSpPr txBox="1"/>
          <p:nvPr/>
        </p:nvSpPr>
        <p:spPr>
          <a:xfrm>
            <a:off x="3647732" y="3883449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66" name="Google Shape;566;p6"/>
          <p:cNvSpPr txBox="1"/>
          <p:nvPr/>
        </p:nvSpPr>
        <p:spPr>
          <a:xfrm>
            <a:off x="3679263" y="3884688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부족 역량/경험</a:t>
            </a:r>
            <a:endParaRPr/>
          </a:p>
        </p:txBody>
      </p:sp>
      <p:sp>
        <p:nvSpPr>
          <p:cNvPr id="567" name="Google Shape;567;p6"/>
          <p:cNvSpPr txBox="1"/>
          <p:nvPr/>
        </p:nvSpPr>
        <p:spPr>
          <a:xfrm>
            <a:off x="3647732" y="4109054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68" name="Google Shape;568;p6"/>
          <p:cNvSpPr txBox="1"/>
          <p:nvPr/>
        </p:nvSpPr>
        <p:spPr>
          <a:xfrm>
            <a:off x="3679263" y="4110294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캠프 제공 역량</a:t>
            </a:r>
            <a:endParaRPr/>
          </a:p>
        </p:txBody>
      </p:sp>
      <p:sp>
        <p:nvSpPr>
          <p:cNvPr id="569" name="Google Shape;569;p6"/>
          <p:cNvSpPr txBox="1"/>
          <p:nvPr/>
        </p:nvSpPr>
        <p:spPr>
          <a:xfrm>
            <a:off x="5066621" y="3657843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70" name="Google Shape;570;p6"/>
          <p:cNvSpPr txBox="1"/>
          <p:nvPr/>
        </p:nvSpPr>
        <p:spPr>
          <a:xfrm>
            <a:off x="5098152" y="3659082"/>
            <a:ext cx="1134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직무 코드 (대·중·소분류)</a:t>
            </a:r>
            <a:endParaRPr/>
          </a:p>
        </p:txBody>
      </p:sp>
      <p:sp>
        <p:nvSpPr>
          <p:cNvPr id="571" name="Google Shape;571;p6"/>
          <p:cNvSpPr txBox="1"/>
          <p:nvPr/>
        </p:nvSpPr>
        <p:spPr>
          <a:xfrm>
            <a:off x="5066621" y="3883449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72" name="Google Shape;572;p6"/>
          <p:cNvSpPr txBox="1"/>
          <p:nvPr/>
        </p:nvSpPr>
        <p:spPr>
          <a:xfrm>
            <a:off x="5141602" y="4108813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캠프 소개</a:t>
            </a:r>
            <a:endParaRPr/>
          </a:p>
        </p:txBody>
      </p:sp>
      <p:sp>
        <p:nvSpPr>
          <p:cNvPr id="573" name="Google Shape;573;p6"/>
          <p:cNvSpPr txBox="1"/>
          <p:nvPr/>
        </p:nvSpPr>
        <p:spPr>
          <a:xfrm>
            <a:off x="5066621" y="4109054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74" name="Google Shape;574;p6"/>
          <p:cNvSpPr txBox="1"/>
          <p:nvPr/>
        </p:nvSpPr>
        <p:spPr>
          <a:xfrm>
            <a:off x="6485510" y="3657843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75" name="Google Shape;575;p6"/>
          <p:cNvSpPr txBox="1"/>
          <p:nvPr/>
        </p:nvSpPr>
        <p:spPr>
          <a:xfrm>
            <a:off x="6517041" y="3659082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직무/산업</a:t>
            </a:r>
            <a:endParaRPr/>
          </a:p>
        </p:txBody>
      </p:sp>
      <p:sp>
        <p:nvSpPr>
          <p:cNvPr id="576" name="Google Shape;576;p6"/>
          <p:cNvSpPr txBox="1"/>
          <p:nvPr/>
        </p:nvSpPr>
        <p:spPr>
          <a:xfrm>
            <a:off x="6485510" y="3883449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77" name="Google Shape;577;p6"/>
          <p:cNvSpPr txBox="1"/>
          <p:nvPr/>
        </p:nvSpPr>
        <p:spPr>
          <a:xfrm>
            <a:off x="6517041" y="3884688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커리큘럼/역량</a:t>
            </a:r>
            <a:endParaRPr/>
          </a:p>
        </p:txBody>
      </p:sp>
      <p:sp>
        <p:nvSpPr>
          <p:cNvPr id="578" name="Google Shape;578;p6"/>
          <p:cNvSpPr txBox="1"/>
          <p:nvPr/>
        </p:nvSpPr>
        <p:spPr>
          <a:xfrm>
            <a:off x="6485510" y="4109054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79" name="Google Shape;579;p6"/>
          <p:cNvSpPr txBox="1"/>
          <p:nvPr/>
        </p:nvSpPr>
        <p:spPr>
          <a:xfrm>
            <a:off x="6517041" y="4110294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수준 적합성</a:t>
            </a:r>
            <a:endParaRPr/>
          </a:p>
        </p:txBody>
      </p:sp>
      <p:sp>
        <p:nvSpPr>
          <p:cNvPr id="580" name="Google Shape;580;p6"/>
          <p:cNvSpPr txBox="1"/>
          <p:nvPr/>
        </p:nvSpPr>
        <p:spPr>
          <a:xfrm>
            <a:off x="6485510" y="4334660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81" name="Google Shape;581;p6"/>
          <p:cNvSpPr txBox="1"/>
          <p:nvPr/>
        </p:nvSpPr>
        <p:spPr>
          <a:xfrm>
            <a:off x="6517041" y="4335900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평점/후기 등</a:t>
            </a:r>
            <a:endParaRPr/>
          </a:p>
        </p:txBody>
      </p:sp>
      <p:sp>
        <p:nvSpPr>
          <p:cNvPr id="582" name="Google Shape;582;p6"/>
          <p:cNvSpPr txBox="1"/>
          <p:nvPr/>
        </p:nvSpPr>
        <p:spPr>
          <a:xfrm>
            <a:off x="7904399" y="3657843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83" name="Google Shape;583;p6"/>
          <p:cNvSpPr txBox="1"/>
          <p:nvPr/>
        </p:nvSpPr>
        <p:spPr>
          <a:xfrm>
            <a:off x="7935930" y="3659082"/>
            <a:ext cx="11430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적합도 점수</a:t>
            </a:r>
            <a:endParaRPr/>
          </a:p>
        </p:txBody>
      </p:sp>
      <p:sp>
        <p:nvSpPr>
          <p:cNvPr id="584" name="Google Shape;584;p6"/>
          <p:cNvSpPr txBox="1"/>
          <p:nvPr/>
        </p:nvSpPr>
        <p:spPr>
          <a:xfrm>
            <a:off x="7904399" y="3883449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85" name="Google Shape;585;p6"/>
          <p:cNvSpPr txBox="1"/>
          <p:nvPr/>
        </p:nvSpPr>
        <p:spPr>
          <a:xfrm>
            <a:off x="7935930" y="3884688"/>
            <a:ext cx="11430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평점/후기</a:t>
            </a:r>
            <a:endParaRPr/>
          </a:p>
        </p:txBody>
      </p:sp>
      <p:sp>
        <p:nvSpPr>
          <p:cNvPr id="586" name="Google Shape;586;p6"/>
          <p:cNvSpPr txBox="1"/>
          <p:nvPr/>
        </p:nvSpPr>
        <p:spPr>
          <a:xfrm>
            <a:off x="7904399" y="4109054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87" name="Google Shape;587;p6"/>
          <p:cNvSpPr txBox="1"/>
          <p:nvPr/>
        </p:nvSpPr>
        <p:spPr>
          <a:xfrm>
            <a:off x="7935930" y="4110294"/>
            <a:ext cx="11430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캠프 상세 정보</a:t>
            </a:r>
            <a:endParaRPr/>
          </a:p>
        </p:txBody>
      </p:sp>
      <p:sp>
        <p:nvSpPr>
          <p:cNvPr id="588" name="Google Shape;588;p6"/>
          <p:cNvSpPr txBox="1"/>
          <p:nvPr/>
        </p:nvSpPr>
        <p:spPr>
          <a:xfrm>
            <a:off x="809954" y="4768517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89" name="Google Shape;589;p6"/>
          <p:cNvSpPr txBox="1"/>
          <p:nvPr/>
        </p:nvSpPr>
        <p:spPr>
          <a:xfrm>
            <a:off x="841485" y="4769756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추천 가능/불가능</a:t>
            </a:r>
            <a:endParaRPr/>
          </a:p>
        </p:txBody>
      </p:sp>
      <p:sp>
        <p:nvSpPr>
          <p:cNvPr id="590" name="Google Shape;590;p6"/>
          <p:cNvSpPr txBox="1"/>
          <p:nvPr/>
        </p:nvSpPr>
        <p:spPr>
          <a:xfrm>
            <a:off x="2228843" y="4768517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91" name="Google Shape;591;p6"/>
          <p:cNvSpPr txBox="1"/>
          <p:nvPr/>
        </p:nvSpPr>
        <p:spPr>
          <a:xfrm>
            <a:off x="2260374" y="4769756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직무, 산업</a:t>
            </a:r>
            <a:endParaRPr/>
          </a:p>
        </p:txBody>
      </p:sp>
      <p:sp>
        <p:nvSpPr>
          <p:cNvPr id="592" name="Google Shape;592;p6"/>
          <p:cNvSpPr txBox="1"/>
          <p:nvPr/>
        </p:nvSpPr>
        <p:spPr>
          <a:xfrm>
            <a:off x="2228843" y="4994123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93" name="Google Shape;593;p6"/>
          <p:cNvSpPr txBox="1"/>
          <p:nvPr/>
        </p:nvSpPr>
        <p:spPr>
          <a:xfrm>
            <a:off x="2260374" y="4995362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고민 유형, 부족 역량</a:t>
            </a:r>
            <a:endParaRPr/>
          </a:p>
        </p:txBody>
      </p:sp>
      <p:sp>
        <p:nvSpPr>
          <p:cNvPr id="594" name="Google Shape;594;p6"/>
          <p:cNvSpPr txBox="1"/>
          <p:nvPr/>
        </p:nvSpPr>
        <p:spPr>
          <a:xfrm>
            <a:off x="2228843" y="5219728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95" name="Google Shape;595;p6"/>
          <p:cNvSpPr txBox="1"/>
          <p:nvPr/>
        </p:nvSpPr>
        <p:spPr>
          <a:xfrm>
            <a:off x="2260374" y="5220968"/>
            <a:ext cx="11349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학습 목적, 현재 수준 등</a:t>
            </a:r>
            <a:endParaRPr/>
          </a:p>
        </p:txBody>
      </p:sp>
      <p:sp>
        <p:nvSpPr>
          <p:cNvPr id="596" name="Google Shape;596;p6"/>
          <p:cNvSpPr txBox="1"/>
          <p:nvPr/>
        </p:nvSpPr>
        <p:spPr>
          <a:xfrm>
            <a:off x="3647732" y="4768517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97" name="Google Shape;597;p6"/>
          <p:cNvSpPr txBox="1"/>
          <p:nvPr/>
        </p:nvSpPr>
        <p:spPr>
          <a:xfrm>
            <a:off x="3679263" y="4769756"/>
            <a:ext cx="1134900" cy="3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781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추천 가능/불가능 등급</a:t>
            </a:r>
            <a:br>
              <a:rPr b="0" i="0" lang="ko-KR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 (A / B / C)</a:t>
            </a:r>
            <a:endParaRPr/>
          </a:p>
        </p:txBody>
      </p:sp>
      <p:sp>
        <p:nvSpPr>
          <p:cNvPr id="598" name="Google Shape;598;p6"/>
          <p:cNvSpPr txBox="1"/>
          <p:nvPr/>
        </p:nvSpPr>
        <p:spPr>
          <a:xfrm>
            <a:off x="5066621" y="4768517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599" name="Google Shape;599;p6"/>
          <p:cNvSpPr txBox="1"/>
          <p:nvPr/>
        </p:nvSpPr>
        <p:spPr>
          <a:xfrm>
            <a:off x="5098152" y="4769756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후보 캠프 </a:t>
            </a:r>
            <a:r>
              <a:rPr lang="ko-KR" sz="937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리스트</a:t>
            </a:r>
            <a:endParaRPr/>
          </a:p>
        </p:txBody>
      </p:sp>
      <p:sp>
        <p:nvSpPr>
          <p:cNvPr id="600" name="Google Shape;600;p6"/>
          <p:cNvSpPr txBox="1"/>
          <p:nvPr/>
        </p:nvSpPr>
        <p:spPr>
          <a:xfrm>
            <a:off x="6485510" y="4768517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601" name="Google Shape;601;p6"/>
          <p:cNvSpPr txBox="1"/>
          <p:nvPr/>
        </p:nvSpPr>
        <p:spPr>
          <a:xfrm>
            <a:off x="6517041" y="4769756"/>
            <a:ext cx="11349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캠프별 적합도 점수</a:t>
            </a:r>
            <a:endParaRPr/>
          </a:p>
        </p:txBody>
      </p:sp>
      <p:sp>
        <p:nvSpPr>
          <p:cNvPr id="602" name="Google Shape;602;p6"/>
          <p:cNvSpPr txBox="1"/>
          <p:nvPr/>
        </p:nvSpPr>
        <p:spPr>
          <a:xfrm>
            <a:off x="7904399" y="4768517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603" name="Google Shape;603;p6"/>
          <p:cNvSpPr txBox="1"/>
          <p:nvPr/>
        </p:nvSpPr>
        <p:spPr>
          <a:xfrm>
            <a:off x="7935930" y="4769756"/>
            <a:ext cx="1143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TOP N 캠프 추천 </a:t>
            </a:r>
            <a:r>
              <a:rPr lang="ko-KR" sz="937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리스트</a:t>
            </a:r>
            <a:endParaRPr sz="937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937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추천 이유</a:t>
            </a:r>
            <a:endParaRPr sz="937">
              <a:solidFill>
                <a:srgbClr val="334155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4" name="Google Shape;604;p6"/>
          <p:cNvSpPr txBox="1"/>
          <p:nvPr/>
        </p:nvSpPr>
        <p:spPr>
          <a:xfrm>
            <a:off x="7904399" y="5170833"/>
            <a:ext cx="315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ko-KR" sz="937" u="none" cap="none" strike="noStrike">
                <a:solidFill>
                  <a:srgbClr val="334155"/>
                </a:solidFill>
                <a:latin typeface="Noto Sans KR"/>
                <a:ea typeface="Noto Sans KR"/>
                <a:cs typeface="Noto Sans KR"/>
                <a:sym typeface="Noto Sans KR"/>
              </a:rPr>
              <a:t>•</a:t>
            </a:r>
            <a:endParaRPr/>
          </a:p>
        </p:txBody>
      </p:sp>
      <p:sp>
        <p:nvSpPr>
          <p:cNvPr id="605" name="Google Shape;605;p6"/>
          <p:cNvSpPr/>
          <p:nvPr/>
        </p:nvSpPr>
        <p:spPr>
          <a:xfrm>
            <a:off x="10" y="3542588"/>
            <a:ext cx="636000" cy="2966400"/>
          </a:xfrm>
          <a:prstGeom prst="rect">
            <a:avLst/>
          </a:prstGeom>
          <a:solidFill>
            <a:srgbClr val="F2F2F2"/>
          </a:solidFill>
          <a:ln cap="flat" cmpd="sng" w="9525">
            <a:solidFill>
              <a:srgbClr val="F2F2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606" name="Google Shape;606;p6"/>
          <p:cNvPicPr preferRelativeResize="0"/>
          <p:nvPr/>
        </p:nvPicPr>
        <p:blipFill rotWithShape="1">
          <a:blip r:embed="rId3">
            <a:alphaModFix/>
          </a:blip>
          <a:srcRect b="48970" l="2364" r="1148" t="16011"/>
          <a:stretch/>
        </p:blipFill>
        <p:spPr>
          <a:xfrm>
            <a:off x="597231" y="1076400"/>
            <a:ext cx="8501426" cy="1868076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"/>
          <p:cNvSpPr/>
          <p:nvPr/>
        </p:nvSpPr>
        <p:spPr>
          <a:xfrm>
            <a:off x="-6584" y="4704783"/>
            <a:ext cx="9144000" cy="11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6"/>
          <p:cNvSpPr/>
          <p:nvPr/>
        </p:nvSpPr>
        <p:spPr>
          <a:xfrm>
            <a:off x="13766" y="5612661"/>
            <a:ext cx="9144000" cy="11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6"/>
          <p:cNvSpPr txBox="1"/>
          <p:nvPr/>
        </p:nvSpPr>
        <p:spPr>
          <a:xfrm>
            <a:off x="8400" y="5857271"/>
            <a:ext cx="63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설명</a:t>
            </a:r>
            <a:endParaRPr sz="1000"/>
          </a:p>
        </p:txBody>
      </p:sp>
      <p:sp>
        <p:nvSpPr>
          <p:cNvPr id="610" name="Google Shape;610;p6"/>
          <p:cNvSpPr txBox="1"/>
          <p:nvPr/>
        </p:nvSpPr>
        <p:spPr>
          <a:xfrm>
            <a:off x="8425" y="4880433"/>
            <a:ext cx="636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주요</a:t>
            </a:r>
            <a:endParaRPr b="1" sz="10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결과물</a:t>
            </a:r>
            <a:endParaRPr b="1" sz="10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11" name="Google Shape;611;p6"/>
          <p:cNvSpPr txBox="1"/>
          <p:nvPr/>
        </p:nvSpPr>
        <p:spPr>
          <a:xfrm>
            <a:off x="8425" y="3767208"/>
            <a:ext cx="636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주요</a:t>
            </a:r>
            <a:endParaRPr b="1" sz="10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활용</a:t>
            </a:r>
            <a:endParaRPr b="1" sz="10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0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데이터</a:t>
            </a:r>
            <a:endParaRPr b="1" sz="10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12" name="Google Shape;61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9846" y="3105463"/>
            <a:ext cx="1368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88734" y="3105463"/>
            <a:ext cx="1368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97084" y="3105463"/>
            <a:ext cx="1368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905459" y="3105163"/>
            <a:ext cx="1368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34884" y="3105463"/>
            <a:ext cx="1368000" cy="2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755894" y="3105463"/>
            <a:ext cx="1368000" cy="252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6"/>
          <p:cNvSpPr txBox="1"/>
          <p:nvPr/>
        </p:nvSpPr>
        <p:spPr>
          <a:xfrm>
            <a:off x="367899" y="714800"/>
            <a:ext cx="7111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직무 부트캠프 추천 프로세스</a:t>
            </a: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유전의 고민을 구조화하여, 직무 코드와 캠프 데이터를 연결해 최적의 부트캠프를 추천합니다.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g3fb5c7ba911_1_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693" y="5341632"/>
            <a:ext cx="8884399" cy="5226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25" name="Google Shape;625;g3fb5c7ba911_1_107"/>
          <p:cNvGraphicFramePr/>
          <p:nvPr/>
        </p:nvGraphicFramePr>
        <p:xfrm>
          <a:off x="-1452" y="11310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{A9A987C8-4B4C-4435-97A4-3E4B7B9A9D6B}</a:tableStyleId>
              </a:tblPr>
              <a:tblGrid>
                <a:gridCol w="1371600"/>
                <a:gridCol w="2286000"/>
                <a:gridCol w="1097175"/>
                <a:gridCol w="1097175"/>
                <a:gridCol w="1097175"/>
                <a:gridCol w="2194875"/>
              </a:tblGrid>
              <a:tr h="4908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단계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업무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생성형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일반 자동화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ko-KR" sz="1125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권장 방식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4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① 유저 고민 확인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Q&amp;A 수집 및 1차 분류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자동화 + 필요 시 사람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② 핵심 정보 추출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목표 직무·산업·역량·경험 추출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생성형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③ 추천 대상 여부 판단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캠프로 해결 가능한 고민인지 판단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AI 1차 판단 + 사람 검수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④ 적합 캠프 탐색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직무 코드 기반 후보 캠프 검색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일반 자동화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⑤ 캠프 적합도 평가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유저 정보와 캠프 정보 비교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규칙 + AI 혼합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⑥ 추천 결과 도출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순위 산출·평점·후기 표시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일반 자동화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⑦ 추천 이유 생성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추천 이유를 자연어로 설명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생성형 AI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⑧ 품질 검수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예외·오추천 확인 및 기준 개선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94A3B8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△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900" u="none" cap="none" strike="noStrike">
                          <a:solidFill>
                            <a:srgbClr val="0F172A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●●●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ko-KR" sz="1125" u="none" cap="none" strike="noStrike">
                          <a:solidFill>
                            <a:srgbClr val="000000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사람 중심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26" name="Google Shape;626;g3fb5c7ba911_1_107"/>
          <p:cNvSpPr txBox="1"/>
          <p:nvPr/>
        </p:nvSpPr>
        <p:spPr>
          <a:xfrm>
            <a:off x="409800" y="5428332"/>
            <a:ext cx="8554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-KR" sz="1100">
                <a:solidFill>
                  <a:srgbClr val="1F3E8F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핵심은 생성형 AI를 </a:t>
            </a:r>
            <a:r>
              <a:rPr b="1" lang="ko-KR" sz="1200">
                <a:solidFill>
                  <a:srgbClr val="1F3E8F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②, ③, ⑤, ⑦</a:t>
            </a:r>
            <a:r>
              <a:rPr b="1" lang="ko-KR" sz="1100">
                <a:solidFill>
                  <a:srgbClr val="1F3E8F"/>
                </a:solidFill>
                <a:latin typeface="Malgun Gothic"/>
                <a:ea typeface="Malgun Gothic"/>
                <a:cs typeface="Malgun Gothic"/>
                <a:sym typeface="Malgun Gothic"/>
              </a:rPr>
              <a:t>에 집중시키는 것입니다.	</a:t>
            </a:r>
            <a:endParaRPr sz="110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27" name="Google Shape;627;g3fb5c7ba911_1_107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g3fb5c7ba911_1_107"/>
          <p:cNvSpPr txBox="1"/>
          <p:nvPr/>
        </p:nvSpPr>
        <p:spPr>
          <a:xfrm>
            <a:off x="302225" y="183350"/>
            <a:ext cx="737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ko-KR" sz="270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생성형 AI 활용할 수 있는 영역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629" name="Google Shape;629;g3fb5c7ba911_1_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150" y="5520457"/>
            <a:ext cx="108000" cy="138857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g3fb5c7ba911_1_107"/>
          <p:cNvSpPr txBox="1"/>
          <p:nvPr/>
        </p:nvSpPr>
        <p:spPr>
          <a:xfrm>
            <a:off x="5203370" y="4922200"/>
            <a:ext cx="402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>
                <a:solidFill>
                  <a:srgbClr val="4A7DBA"/>
                </a:solidFill>
                <a:latin typeface="Noto Sans KR"/>
                <a:ea typeface="Noto Sans KR"/>
                <a:cs typeface="Noto Sans KR"/>
                <a:sym typeface="Noto Sans KR"/>
              </a:rPr>
              <a:t>⨳ </a:t>
            </a:r>
            <a:r>
              <a:rPr lang="ko-KR" sz="1000">
                <a:solidFill>
                  <a:srgbClr val="4A7DBA"/>
                </a:solidFill>
                <a:latin typeface="Noto Sans KR"/>
                <a:ea typeface="Noto Sans KR"/>
                <a:cs typeface="Noto Sans KR"/>
                <a:sym typeface="Noto Sans KR"/>
              </a:rPr>
              <a:t>●●●=핵심 역할 / ●● =주요 역할 / ●=보조 역할 / △</a:t>
            </a:r>
            <a:r>
              <a:rPr lang="ko-KR" sz="1000">
                <a:solidFill>
                  <a:srgbClr val="4A7DBA"/>
                </a:solidFill>
                <a:latin typeface="Calibri"/>
                <a:ea typeface="Calibri"/>
                <a:cs typeface="Calibri"/>
                <a:sym typeface="Calibri"/>
              </a:rPr>
              <a:t>=필요 시</a:t>
            </a:r>
            <a:endParaRPr sz="1300">
              <a:solidFill>
                <a:srgbClr val="4A7DBA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g3fb5b8e4078_0_714"/>
          <p:cNvSpPr/>
          <p:nvPr/>
        </p:nvSpPr>
        <p:spPr>
          <a:xfrm>
            <a:off x="377200" y="1057463"/>
            <a:ext cx="1220700" cy="701400"/>
          </a:xfrm>
          <a:prstGeom prst="roundRect">
            <a:avLst>
              <a:gd fmla="val 15385" name="adj"/>
            </a:avLst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g3fb5b8e4078_0_714"/>
          <p:cNvSpPr/>
          <p:nvPr/>
        </p:nvSpPr>
        <p:spPr>
          <a:xfrm>
            <a:off x="445782" y="938605"/>
            <a:ext cx="226500" cy="226800"/>
          </a:xfrm>
          <a:prstGeom prst="ellipse">
            <a:avLst/>
          </a:prstGeom>
          <a:solidFill>
            <a:srgbClr val="2F74F0"/>
          </a:solidFill>
          <a:ln cap="flat" cmpd="sng" w="12700">
            <a:solidFill>
              <a:srgbClr val="2F7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g3fb5b8e4078_0_714"/>
          <p:cNvSpPr/>
          <p:nvPr/>
        </p:nvSpPr>
        <p:spPr>
          <a:xfrm>
            <a:off x="500647" y="1146123"/>
            <a:ext cx="97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대상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판별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9" name="Google Shape;639;g3fb5b8e4078_0_714"/>
          <p:cNvSpPr/>
          <p:nvPr/>
        </p:nvSpPr>
        <p:spPr>
          <a:xfrm>
            <a:off x="1616694" y="1286077"/>
            <a:ext cx="16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82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5A6B82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0" name="Google Shape;640;g3fb5b8e4078_0_714"/>
          <p:cNvSpPr/>
          <p:nvPr/>
        </p:nvSpPr>
        <p:spPr>
          <a:xfrm>
            <a:off x="1824275" y="1057463"/>
            <a:ext cx="1220700" cy="701400"/>
          </a:xfrm>
          <a:prstGeom prst="roundRect">
            <a:avLst>
              <a:gd fmla="val 15385" name="adj"/>
            </a:avLst>
          </a:prstGeom>
          <a:solidFill>
            <a:srgbClr val="EAFBF6"/>
          </a:solidFill>
          <a:ln cap="flat" cmpd="sng" w="12700">
            <a:solidFill>
              <a:srgbClr val="EAFB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g3fb5b8e4078_0_714"/>
          <p:cNvSpPr/>
          <p:nvPr/>
        </p:nvSpPr>
        <p:spPr>
          <a:xfrm>
            <a:off x="1892858" y="938605"/>
            <a:ext cx="226500" cy="226800"/>
          </a:xfrm>
          <a:prstGeom prst="ellipse">
            <a:avLst/>
          </a:prstGeom>
          <a:solidFill>
            <a:srgbClr val="25B99A"/>
          </a:solidFill>
          <a:ln cap="flat" cmpd="sng" w="12700">
            <a:solidFill>
              <a:srgbClr val="25B9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g3fb5b8e4078_0_714"/>
          <p:cNvSpPr/>
          <p:nvPr/>
        </p:nvSpPr>
        <p:spPr>
          <a:xfrm>
            <a:off x="1947724" y="1146123"/>
            <a:ext cx="97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 캠프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탐색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3" name="Google Shape;643;g3fb5b8e4078_0_714"/>
          <p:cNvSpPr/>
          <p:nvPr/>
        </p:nvSpPr>
        <p:spPr>
          <a:xfrm>
            <a:off x="3063771" y="1286077"/>
            <a:ext cx="16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82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5A6B82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4" name="Google Shape;644;g3fb5b8e4078_0_714"/>
          <p:cNvSpPr/>
          <p:nvPr/>
        </p:nvSpPr>
        <p:spPr>
          <a:xfrm>
            <a:off x="3271350" y="1057463"/>
            <a:ext cx="1220700" cy="701400"/>
          </a:xfrm>
          <a:prstGeom prst="roundRect">
            <a:avLst>
              <a:gd fmla="val 15385" name="adj"/>
            </a:avLst>
          </a:prstGeom>
          <a:solidFill>
            <a:srgbClr val="F3EEFF"/>
          </a:solidFill>
          <a:ln cap="flat" cmpd="sng" w="12700">
            <a:solidFill>
              <a:srgbClr val="F3E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g3fb5b8e4078_0_714"/>
          <p:cNvSpPr/>
          <p:nvPr/>
        </p:nvSpPr>
        <p:spPr>
          <a:xfrm>
            <a:off x="3339935" y="938605"/>
            <a:ext cx="226500" cy="226800"/>
          </a:xfrm>
          <a:prstGeom prst="ellipse">
            <a:avLst/>
          </a:prstGeom>
          <a:solidFill>
            <a:srgbClr val="7954E8"/>
          </a:solidFill>
          <a:ln cap="flat" cmpd="sng" w="12700">
            <a:solidFill>
              <a:srgbClr val="795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g3fb5b8e4078_0_714"/>
          <p:cNvSpPr/>
          <p:nvPr/>
        </p:nvSpPr>
        <p:spPr>
          <a:xfrm>
            <a:off x="3394800" y="1146123"/>
            <a:ext cx="97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조건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필터링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7" name="Google Shape;647;g3fb5b8e4078_0_714"/>
          <p:cNvSpPr/>
          <p:nvPr/>
        </p:nvSpPr>
        <p:spPr>
          <a:xfrm>
            <a:off x="4510847" y="1286077"/>
            <a:ext cx="16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82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5A6B82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8" name="Google Shape;648;g3fb5b8e4078_0_714"/>
          <p:cNvSpPr/>
          <p:nvPr/>
        </p:nvSpPr>
        <p:spPr>
          <a:xfrm>
            <a:off x="4718425" y="1057463"/>
            <a:ext cx="1220700" cy="701400"/>
          </a:xfrm>
          <a:prstGeom prst="roundRect">
            <a:avLst>
              <a:gd fmla="val 15385" name="adj"/>
            </a:avLst>
          </a:prstGeom>
          <a:solidFill>
            <a:srgbClr val="EAF4FF"/>
          </a:solidFill>
          <a:ln cap="flat" cmpd="sng" w="12700">
            <a:solidFill>
              <a:srgbClr val="EAF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g3fb5b8e4078_0_714"/>
          <p:cNvSpPr/>
          <p:nvPr/>
        </p:nvSpPr>
        <p:spPr>
          <a:xfrm>
            <a:off x="4787012" y="938605"/>
            <a:ext cx="226500" cy="226800"/>
          </a:xfrm>
          <a:prstGeom prst="ellipse">
            <a:avLst/>
          </a:prstGeom>
          <a:solidFill>
            <a:srgbClr val="2B8ADF"/>
          </a:solidFill>
          <a:ln cap="flat" cmpd="sng" w="12700">
            <a:solidFill>
              <a:srgbClr val="2B8A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g3fb5b8e4078_0_714"/>
          <p:cNvSpPr/>
          <p:nvPr/>
        </p:nvSpPr>
        <p:spPr>
          <a:xfrm>
            <a:off x="4841877" y="1146123"/>
            <a:ext cx="97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캠프 적합도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평가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1" name="Google Shape;651;g3fb5b8e4078_0_714"/>
          <p:cNvSpPr/>
          <p:nvPr/>
        </p:nvSpPr>
        <p:spPr>
          <a:xfrm>
            <a:off x="5957924" y="1286077"/>
            <a:ext cx="16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82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5A6B82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2" name="Google Shape;652;g3fb5b8e4078_0_714"/>
          <p:cNvSpPr/>
          <p:nvPr/>
        </p:nvSpPr>
        <p:spPr>
          <a:xfrm>
            <a:off x="6165500" y="1057463"/>
            <a:ext cx="1220700" cy="701400"/>
          </a:xfrm>
          <a:prstGeom prst="roundRect">
            <a:avLst>
              <a:gd fmla="val 15385" name="adj"/>
            </a:avLst>
          </a:prstGeom>
          <a:solidFill>
            <a:srgbClr val="FFF4E6"/>
          </a:solidFill>
          <a:ln cap="flat" cmpd="sng" w="12700">
            <a:solidFill>
              <a:srgbClr val="FFF4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3" name="Google Shape;653;g3fb5b8e4078_0_714"/>
          <p:cNvSpPr/>
          <p:nvPr/>
        </p:nvSpPr>
        <p:spPr>
          <a:xfrm>
            <a:off x="6234088" y="938605"/>
            <a:ext cx="226500" cy="226800"/>
          </a:xfrm>
          <a:prstGeom prst="ellipse">
            <a:avLst/>
          </a:prstGeom>
          <a:solidFill>
            <a:srgbClr val="F7931E"/>
          </a:solidFill>
          <a:ln cap="flat" cmpd="sng" w="12700">
            <a:solidFill>
              <a:srgbClr val="F793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g3fb5b8e4078_0_714"/>
          <p:cNvSpPr/>
          <p:nvPr/>
        </p:nvSpPr>
        <p:spPr>
          <a:xfrm>
            <a:off x="6288954" y="1146123"/>
            <a:ext cx="97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Ranking·이유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생성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5" name="Google Shape;655;g3fb5b8e4078_0_714"/>
          <p:cNvSpPr/>
          <p:nvPr/>
        </p:nvSpPr>
        <p:spPr>
          <a:xfrm>
            <a:off x="7416206" y="1286077"/>
            <a:ext cx="1647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82"/>
              </a:buClr>
              <a:buSzPts val="1500"/>
              <a:buFont typeface="Malgun Gothic"/>
              <a:buNone/>
            </a:pPr>
            <a:r>
              <a:rPr b="1" i="0" lang="ko-KR" sz="1500" u="none" cap="none" strike="noStrike">
                <a:solidFill>
                  <a:srgbClr val="5A6B82"/>
                </a:solidFill>
                <a:latin typeface="Malgun Gothic"/>
                <a:ea typeface="Malgun Gothic"/>
                <a:cs typeface="Malgun Gothic"/>
                <a:sym typeface="Malgun Gothic"/>
              </a:rPr>
              <a:t>→</a:t>
            </a:r>
            <a:endParaRPr b="0" i="0" sz="15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6" name="Google Shape;656;g3fb5b8e4078_0_714"/>
          <p:cNvSpPr/>
          <p:nvPr/>
        </p:nvSpPr>
        <p:spPr>
          <a:xfrm>
            <a:off x="7612575" y="1057463"/>
            <a:ext cx="1220700" cy="701400"/>
          </a:xfrm>
          <a:prstGeom prst="roundRect">
            <a:avLst>
              <a:gd fmla="val 15385" name="adj"/>
            </a:avLst>
          </a:prstGeom>
          <a:solidFill>
            <a:srgbClr val="FDECF2"/>
          </a:solidFill>
          <a:ln cap="flat" cmpd="sng" w="12700">
            <a:solidFill>
              <a:srgbClr val="FDEC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g3fb5b8e4078_0_714"/>
          <p:cNvSpPr/>
          <p:nvPr/>
        </p:nvSpPr>
        <p:spPr>
          <a:xfrm>
            <a:off x="7681165" y="938605"/>
            <a:ext cx="226500" cy="226800"/>
          </a:xfrm>
          <a:prstGeom prst="ellipse">
            <a:avLst/>
          </a:prstGeom>
          <a:solidFill>
            <a:srgbClr val="EC5B85"/>
          </a:solidFill>
          <a:ln cap="flat" cmpd="sng" w="12700">
            <a:solidFill>
              <a:srgbClr val="EC5B8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g3fb5b8e4078_0_714"/>
          <p:cNvSpPr/>
          <p:nvPr/>
        </p:nvSpPr>
        <p:spPr>
          <a:xfrm>
            <a:off x="7736030" y="1146123"/>
            <a:ext cx="9738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검수·성과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측정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9" name="Google Shape;659;g3fb5b8e4078_0_714"/>
          <p:cNvSpPr/>
          <p:nvPr/>
        </p:nvSpPr>
        <p:spPr>
          <a:xfrm>
            <a:off x="288044" y="1950712"/>
            <a:ext cx="1405800" cy="393300"/>
          </a:xfrm>
          <a:prstGeom prst="rect">
            <a:avLst/>
          </a:prstGeom>
          <a:solidFill>
            <a:srgbClr val="EAF4FF"/>
          </a:solidFill>
          <a:ln cap="flat" cmpd="sng" w="11425">
            <a:solidFill>
              <a:srgbClr val="BBD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g3fb5b8e4078_0_714"/>
          <p:cNvSpPr/>
          <p:nvPr/>
        </p:nvSpPr>
        <p:spPr>
          <a:xfrm>
            <a:off x="445782" y="911214"/>
            <a:ext cx="226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1" name="Google Shape;661;g3fb5b8e4078_0_714"/>
          <p:cNvSpPr/>
          <p:nvPr/>
        </p:nvSpPr>
        <p:spPr>
          <a:xfrm>
            <a:off x="1892846" y="911227"/>
            <a:ext cx="226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2" name="Google Shape;662;g3fb5b8e4078_0_714"/>
          <p:cNvSpPr/>
          <p:nvPr/>
        </p:nvSpPr>
        <p:spPr>
          <a:xfrm>
            <a:off x="3339935" y="907214"/>
            <a:ext cx="226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3" name="Google Shape;663;g3fb5b8e4078_0_714"/>
          <p:cNvSpPr/>
          <p:nvPr/>
        </p:nvSpPr>
        <p:spPr>
          <a:xfrm>
            <a:off x="4787024" y="911227"/>
            <a:ext cx="226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4" name="Google Shape;664;g3fb5b8e4078_0_714"/>
          <p:cNvSpPr/>
          <p:nvPr/>
        </p:nvSpPr>
        <p:spPr>
          <a:xfrm>
            <a:off x="6234076" y="911227"/>
            <a:ext cx="226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5" name="Google Shape;665;g3fb5b8e4078_0_714"/>
          <p:cNvSpPr/>
          <p:nvPr/>
        </p:nvSpPr>
        <p:spPr>
          <a:xfrm>
            <a:off x="7681165" y="911227"/>
            <a:ext cx="2265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algun Gothic"/>
              <a:buNone/>
            </a:pPr>
            <a:r>
              <a:rPr b="1" i="0" lang="ko-KR" sz="11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6" name="Google Shape;666;g3fb5b8e4078_0_714"/>
          <p:cNvSpPr/>
          <p:nvPr/>
        </p:nvSpPr>
        <p:spPr>
          <a:xfrm>
            <a:off x="288044" y="1978144"/>
            <a:ext cx="14058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주요 기능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7" name="Google Shape;667;g3fb5b8e4078_0_714"/>
          <p:cNvSpPr/>
          <p:nvPr/>
        </p:nvSpPr>
        <p:spPr>
          <a:xfrm>
            <a:off x="1693971" y="1950712"/>
            <a:ext cx="2249400" cy="393300"/>
          </a:xfrm>
          <a:prstGeom prst="rect">
            <a:avLst/>
          </a:prstGeom>
          <a:solidFill>
            <a:srgbClr val="EAF4FF"/>
          </a:solidFill>
          <a:ln cap="flat" cmpd="sng" w="11425">
            <a:solidFill>
              <a:srgbClr val="BBD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g3fb5b8e4078_0_714"/>
          <p:cNvSpPr/>
          <p:nvPr/>
        </p:nvSpPr>
        <p:spPr>
          <a:xfrm>
            <a:off x="1693971" y="1978144"/>
            <a:ext cx="2249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구현 내용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9" name="Google Shape;669;g3fb5b8e4078_0_714"/>
          <p:cNvSpPr/>
          <p:nvPr/>
        </p:nvSpPr>
        <p:spPr>
          <a:xfrm>
            <a:off x="3943455" y="1950712"/>
            <a:ext cx="2811900" cy="393300"/>
          </a:xfrm>
          <a:prstGeom prst="rect">
            <a:avLst/>
          </a:prstGeom>
          <a:solidFill>
            <a:srgbClr val="EAF4FF"/>
          </a:solidFill>
          <a:ln cap="flat" cmpd="sng" w="11425">
            <a:solidFill>
              <a:srgbClr val="BBD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g3fb5b8e4078_0_714"/>
          <p:cNvSpPr/>
          <p:nvPr/>
        </p:nvSpPr>
        <p:spPr>
          <a:xfrm>
            <a:off x="3943455" y="1978144"/>
            <a:ext cx="28119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필요한 데이터 / 기준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1" name="Google Shape;671;g3fb5b8e4078_0_714"/>
          <p:cNvSpPr/>
          <p:nvPr/>
        </p:nvSpPr>
        <p:spPr>
          <a:xfrm>
            <a:off x="6755310" y="1950712"/>
            <a:ext cx="2105400" cy="393300"/>
          </a:xfrm>
          <a:prstGeom prst="rect">
            <a:avLst/>
          </a:prstGeom>
          <a:solidFill>
            <a:srgbClr val="EAF4FF"/>
          </a:solidFill>
          <a:ln cap="flat" cmpd="sng" w="11425">
            <a:solidFill>
              <a:srgbClr val="BBD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g3fb5b8e4078_0_714"/>
          <p:cNvSpPr/>
          <p:nvPr/>
        </p:nvSpPr>
        <p:spPr>
          <a:xfrm>
            <a:off x="6755310" y="1978144"/>
            <a:ext cx="2105400" cy="3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3" name="Google Shape;673;g3fb5b8e4078_0_714"/>
          <p:cNvSpPr/>
          <p:nvPr/>
        </p:nvSpPr>
        <p:spPr>
          <a:xfrm>
            <a:off x="288044" y="2343904"/>
            <a:ext cx="1405800" cy="585300"/>
          </a:xfrm>
          <a:prstGeom prst="rect">
            <a:avLst/>
          </a:prstGeom>
          <a:solidFill>
            <a:srgbClr val="EAF4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fb5b8e4078_0_714"/>
          <p:cNvSpPr/>
          <p:nvPr/>
        </p:nvSpPr>
        <p:spPr>
          <a:xfrm>
            <a:off x="356626" y="2389624"/>
            <a:ext cx="126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① 추천 대상 판별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5" name="Google Shape;675;g3fb5b8e4078_0_714"/>
          <p:cNvSpPr/>
          <p:nvPr/>
        </p:nvSpPr>
        <p:spPr>
          <a:xfrm>
            <a:off x="1693971" y="2343904"/>
            <a:ext cx="2249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g3fb5b8e4078_0_714"/>
          <p:cNvSpPr/>
          <p:nvPr/>
        </p:nvSpPr>
        <p:spPr>
          <a:xfrm>
            <a:off x="1762553" y="2389624"/>
            <a:ext cx="2112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QnA가 부트캠프 추천 대상인지 1차 판단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7" name="Google Shape;677;g3fb5b8e4078_0_714"/>
          <p:cNvSpPr/>
          <p:nvPr/>
        </p:nvSpPr>
        <p:spPr>
          <a:xfrm>
            <a:off x="3943455" y="2343904"/>
            <a:ext cx="28119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g3fb5b8e4078_0_714"/>
          <p:cNvSpPr/>
          <p:nvPr/>
        </p:nvSpPr>
        <p:spPr>
          <a:xfrm>
            <a:off x="4012037" y="2389624"/>
            <a:ext cx="267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고민 카테고리: 취업고민 여부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취업고민이면 추천, 아니면 제외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79" name="Google Shape;679;g3fb5b8e4078_0_714"/>
          <p:cNvSpPr/>
          <p:nvPr/>
        </p:nvSpPr>
        <p:spPr>
          <a:xfrm>
            <a:off x="6755310" y="2343904"/>
            <a:ext cx="2105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g3fb5b8e4078_0_714"/>
          <p:cNvSpPr/>
          <p:nvPr/>
        </p:nvSpPr>
        <p:spPr>
          <a:xfrm>
            <a:off x="6823892" y="2389624"/>
            <a:ext cx="1968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대상 / 비대상 분류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1" name="Google Shape;681;g3fb5b8e4078_0_714"/>
          <p:cNvSpPr/>
          <p:nvPr/>
        </p:nvSpPr>
        <p:spPr>
          <a:xfrm>
            <a:off x="288044" y="2929120"/>
            <a:ext cx="1405800" cy="585300"/>
          </a:xfrm>
          <a:prstGeom prst="rect">
            <a:avLst/>
          </a:prstGeom>
          <a:solidFill>
            <a:srgbClr val="EAFBF6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g3fb5b8e4078_0_714"/>
          <p:cNvSpPr/>
          <p:nvPr/>
        </p:nvSpPr>
        <p:spPr>
          <a:xfrm>
            <a:off x="356626" y="2974840"/>
            <a:ext cx="126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② 후보 캠프 탐색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3" name="Google Shape;683;g3fb5b8e4078_0_714"/>
          <p:cNvSpPr/>
          <p:nvPr/>
        </p:nvSpPr>
        <p:spPr>
          <a:xfrm>
            <a:off x="1693971" y="2929120"/>
            <a:ext cx="2249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g3fb5b8e4078_0_714"/>
          <p:cNvSpPr/>
          <p:nvPr/>
        </p:nvSpPr>
        <p:spPr>
          <a:xfrm>
            <a:off x="1762553" y="2974840"/>
            <a:ext cx="2112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직무 코드와 키워드를 기준으로 관련 캠프 검색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5" name="Google Shape;685;g3fb5b8e4078_0_714"/>
          <p:cNvSpPr/>
          <p:nvPr/>
        </p:nvSpPr>
        <p:spPr>
          <a:xfrm>
            <a:off x="3943455" y="2929120"/>
            <a:ext cx="28119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g3fb5b8e4078_0_714"/>
          <p:cNvSpPr/>
          <p:nvPr/>
        </p:nvSpPr>
        <p:spPr>
          <a:xfrm>
            <a:off x="4012037" y="2974840"/>
            <a:ext cx="267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직무 대·중·소분류 코드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QnA</a:t>
            </a:r>
            <a:r>
              <a:rPr lang="ko-KR" sz="1060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↔</a:t>
            </a: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캠프 키워드 매핑 결과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7" name="Google Shape;687;g3fb5b8e4078_0_714"/>
          <p:cNvSpPr/>
          <p:nvPr/>
        </p:nvSpPr>
        <p:spPr>
          <a:xfrm>
            <a:off x="6755310" y="2929120"/>
            <a:ext cx="2105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g3fb5b8e4078_0_714"/>
          <p:cNvSpPr/>
          <p:nvPr/>
        </p:nvSpPr>
        <p:spPr>
          <a:xfrm>
            <a:off x="6823892" y="2974840"/>
            <a:ext cx="1968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후보 캠프 </a:t>
            </a:r>
            <a:r>
              <a:rPr lang="ko-KR" sz="1060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리스트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9" name="Google Shape;689;g3fb5b8e4078_0_714"/>
          <p:cNvSpPr/>
          <p:nvPr/>
        </p:nvSpPr>
        <p:spPr>
          <a:xfrm>
            <a:off x="288044" y="3514336"/>
            <a:ext cx="1405800" cy="585300"/>
          </a:xfrm>
          <a:prstGeom prst="rect">
            <a:avLst/>
          </a:prstGeom>
          <a:solidFill>
            <a:srgbClr val="F3EE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g3fb5b8e4078_0_714"/>
          <p:cNvSpPr/>
          <p:nvPr/>
        </p:nvSpPr>
        <p:spPr>
          <a:xfrm>
            <a:off x="356626" y="3560056"/>
            <a:ext cx="126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③</a:t>
            </a: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필수 조건 필터링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1" name="Google Shape;691;g3fb5b8e4078_0_714"/>
          <p:cNvSpPr/>
          <p:nvPr/>
        </p:nvSpPr>
        <p:spPr>
          <a:xfrm>
            <a:off x="1693971" y="3514336"/>
            <a:ext cx="2249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g3fb5b8e4078_0_714"/>
          <p:cNvSpPr/>
          <p:nvPr/>
        </p:nvSpPr>
        <p:spPr>
          <a:xfrm>
            <a:off x="1762553" y="3560056"/>
            <a:ext cx="2112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수준에 맞지 않는 캠프를 1차 제외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3" name="Google Shape;693;g3fb5b8e4078_0_714"/>
          <p:cNvSpPr/>
          <p:nvPr/>
        </p:nvSpPr>
        <p:spPr>
          <a:xfrm>
            <a:off x="3943455" y="3514336"/>
            <a:ext cx="28119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fb5b8e4078_0_714"/>
          <p:cNvSpPr/>
          <p:nvPr/>
        </p:nvSpPr>
        <p:spPr>
          <a:xfrm>
            <a:off x="4012037" y="3560056"/>
            <a:ext cx="267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선행지식, 난이도, 전공/비전공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캠프 대상 조건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5" name="Google Shape;695;g3fb5b8e4078_0_714"/>
          <p:cNvSpPr/>
          <p:nvPr/>
        </p:nvSpPr>
        <p:spPr>
          <a:xfrm>
            <a:off x="6755310" y="3514336"/>
            <a:ext cx="2105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fb5b8e4078_0_714"/>
          <p:cNvSpPr/>
          <p:nvPr/>
        </p:nvSpPr>
        <p:spPr>
          <a:xfrm>
            <a:off x="6823892" y="3560056"/>
            <a:ext cx="1968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필터링된 후보 캠프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7" name="Google Shape;697;g3fb5b8e4078_0_714"/>
          <p:cNvSpPr/>
          <p:nvPr/>
        </p:nvSpPr>
        <p:spPr>
          <a:xfrm>
            <a:off x="288044" y="4099552"/>
            <a:ext cx="1405800" cy="585300"/>
          </a:xfrm>
          <a:prstGeom prst="rect">
            <a:avLst/>
          </a:prstGeom>
          <a:solidFill>
            <a:srgbClr val="EAF4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g3fb5b8e4078_0_714"/>
          <p:cNvSpPr/>
          <p:nvPr/>
        </p:nvSpPr>
        <p:spPr>
          <a:xfrm>
            <a:off x="356626" y="4145272"/>
            <a:ext cx="126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④ 캠프 적합도 평가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99" name="Google Shape;699;g3fb5b8e4078_0_714"/>
          <p:cNvSpPr/>
          <p:nvPr/>
        </p:nvSpPr>
        <p:spPr>
          <a:xfrm>
            <a:off x="1693971" y="4099552"/>
            <a:ext cx="2249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g3fb5b8e4078_0_714"/>
          <p:cNvSpPr/>
          <p:nvPr/>
        </p:nvSpPr>
        <p:spPr>
          <a:xfrm>
            <a:off x="1762553" y="4145272"/>
            <a:ext cx="2112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정보와 캠프 정보를 비교해 점수화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1" name="Google Shape;701;g3fb5b8e4078_0_714"/>
          <p:cNvSpPr/>
          <p:nvPr/>
        </p:nvSpPr>
        <p:spPr>
          <a:xfrm>
            <a:off x="3943455" y="4099552"/>
            <a:ext cx="28119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g3fb5b8e4078_0_714"/>
          <p:cNvSpPr/>
          <p:nvPr/>
        </p:nvSpPr>
        <p:spPr>
          <a:xfrm>
            <a:off x="4012037" y="4145272"/>
            <a:ext cx="267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직무·역량·경험·문제유형 일치도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평점·후기 품질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3" name="Google Shape;703;g3fb5b8e4078_0_714"/>
          <p:cNvSpPr/>
          <p:nvPr/>
        </p:nvSpPr>
        <p:spPr>
          <a:xfrm>
            <a:off x="6755310" y="4099552"/>
            <a:ext cx="2105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g3fb5b8e4078_0_714"/>
          <p:cNvSpPr/>
          <p:nvPr/>
        </p:nvSpPr>
        <p:spPr>
          <a:xfrm>
            <a:off x="6823892" y="4145272"/>
            <a:ext cx="1968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캠프별 적합도 점수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5" name="Google Shape;705;g3fb5b8e4078_0_714"/>
          <p:cNvSpPr/>
          <p:nvPr/>
        </p:nvSpPr>
        <p:spPr>
          <a:xfrm>
            <a:off x="288044" y="4684768"/>
            <a:ext cx="1405800" cy="585300"/>
          </a:xfrm>
          <a:prstGeom prst="rect">
            <a:avLst/>
          </a:prstGeom>
          <a:solidFill>
            <a:srgbClr val="FFF4E6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g3fb5b8e4078_0_714"/>
          <p:cNvSpPr/>
          <p:nvPr/>
        </p:nvSpPr>
        <p:spPr>
          <a:xfrm>
            <a:off x="356626" y="4730488"/>
            <a:ext cx="126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⑤ Ranking</a:t>
            </a:r>
            <a:r>
              <a:rPr b="1" lang="ko-KR" sz="1250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·</a:t>
            </a:r>
            <a:r>
              <a:rPr b="1" i="0" lang="ko-KR" sz="1250" u="none" cap="none" strike="noStrike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이유 생성</a:t>
            </a:r>
            <a:endParaRPr b="0" i="0" sz="125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7" name="Google Shape;707;g3fb5b8e4078_0_714"/>
          <p:cNvSpPr/>
          <p:nvPr/>
        </p:nvSpPr>
        <p:spPr>
          <a:xfrm>
            <a:off x="1693971" y="4684768"/>
            <a:ext cx="2249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g3fb5b8e4078_0_714"/>
          <p:cNvSpPr/>
          <p:nvPr/>
        </p:nvSpPr>
        <p:spPr>
          <a:xfrm>
            <a:off x="1762553" y="4730488"/>
            <a:ext cx="2112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TOP N 캠프를 선정하고 추천 근거 작성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9" name="Google Shape;709;g3fb5b8e4078_0_714"/>
          <p:cNvSpPr/>
          <p:nvPr/>
        </p:nvSpPr>
        <p:spPr>
          <a:xfrm>
            <a:off x="3943455" y="4684768"/>
            <a:ext cx="28119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g3fb5b8e4078_0_714"/>
          <p:cNvSpPr/>
          <p:nvPr/>
        </p:nvSpPr>
        <p:spPr>
          <a:xfrm>
            <a:off x="4012037" y="4730488"/>
            <a:ext cx="267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적합도 점수, 캠프 강점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유저 고민 요약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1" name="Google Shape;711;g3fb5b8e4078_0_714"/>
          <p:cNvSpPr/>
          <p:nvPr/>
        </p:nvSpPr>
        <p:spPr>
          <a:xfrm>
            <a:off x="6755310" y="4684768"/>
            <a:ext cx="2105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g3fb5b8e4078_0_714"/>
          <p:cNvSpPr/>
          <p:nvPr/>
        </p:nvSpPr>
        <p:spPr>
          <a:xfrm>
            <a:off x="6823892" y="4730488"/>
            <a:ext cx="1968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리스트 + 추천 이유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3" name="Google Shape;713;g3fb5b8e4078_0_714"/>
          <p:cNvSpPr/>
          <p:nvPr/>
        </p:nvSpPr>
        <p:spPr>
          <a:xfrm>
            <a:off x="288044" y="5269984"/>
            <a:ext cx="1405800" cy="585300"/>
          </a:xfrm>
          <a:prstGeom prst="rect">
            <a:avLst/>
          </a:prstGeom>
          <a:solidFill>
            <a:srgbClr val="FDECF2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g3fb5b8e4078_0_714"/>
          <p:cNvSpPr/>
          <p:nvPr/>
        </p:nvSpPr>
        <p:spPr>
          <a:xfrm>
            <a:off x="356626" y="5315704"/>
            <a:ext cx="1268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A5C"/>
              </a:buClr>
              <a:buSzPts val="1250"/>
              <a:buFont typeface="Malgun Gothic"/>
              <a:buNone/>
            </a:pPr>
            <a:r>
              <a:rPr b="1" lang="ko-KR" sz="1250">
                <a:solidFill>
                  <a:srgbClr val="0D2A5C"/>
                </a:solidFill>
                <a:latin typeface="Malgun Gothic"/>
                <a:ea typeface="Malgun Gothic"/>
                <a:cs typeface="Malgun Gothic"/>
                <a:sym typeface="Malgun Gothic"/>
              </a:rPr>
              <a:t>⑥ 검수·성과 측정</a:t>
            </a:r>
            <a:endParaRPr b="1" sz="1250">
              <a:solidFill>
                <a:srgbClr val="0D2A5C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5" name="Google Shape;715;g3fb5b8e4078_0_714"/>
          <p:cNvSpPr/>
          <p:nvPr/>
        </p:nvSpPr>
        <p:spPr>
          <a:xfrm>
            <a:off x="1693971" y="5269984"/>
            <a:ext cx="2249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fb5b8e4078_0_714"/>
          <p:cNvSpPr/>
          <p:nvPr/>
        </p:nvSpPr>
        <p:spPr>
          <a:xfrm>
            <a:off x="1762553" y="5315704"/>
            <a:ext cx="2112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오추천을 점검하고 추천 효과를 추적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7" name="Google Shape;717;g3fb5b8e4078_0_714"/>
          <p:cNvSpPr/>
          <p:nvPr/>
        </p:nvSpPr>
        <p:spPr>
          <a:xfrm>
            <a:off x="3943455" y="5269984"/>
            <a:ext cx="28119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g3fb5b8e4078_0_714"/>
          <p:cNvSpPr/>
          <p:nvPr/>
        </p:nvSpPr>
        <p:spPr>
          <a:xfrm>
            <a:off x="4012037" y="5315704"/>
            <a:ext cx="26745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로그, 클릭, 상세조회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신청·전환 데이터, 피드백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9" name="Google Shape;719;g3fb5b8e4078_0_714"/>
          <p:cNvSpPr/>
          <p:nvPr/>
        </p:nvSpPr>
        <p:spPr>
          <a:xfrm>
            <a:off x="6755310" y="5269984"/>
            <a:ext cx="2105400" cy="585300"/>
          </a:xfrm>
          <a:prstGeom prst="rect">
            <a:avLst/>
          </a:prstGeom>
          <a:solidFill>
            <a:srgbClr val="FFFFFF"/>
          </a:solidFill>
          <a:ln cap="flat" cmpd="sng" w="10150">
            <a:solidFill>
              <a:srgbClr val="D7E5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g3fb5b8e4078_0_714"/>
          <p:cNvSpPr/>
          <p:nvPr/>
        </p:nvSpPr>
        <p:spPr>
          <a:xfrm>
            <a:off x="6823892" y="5315704"/>
            <a:ext cx="19683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15D"/>
              </a:buClr>
              <a:buSzPts val="1060"/>
              <a:buFont typeface="Malgun Gothic"/>
              <a:buNone/>
            </a:pPr>
            <a:r>
              <a:rPr b="0" i="0" lang="ko-KR" sz="1060" u="none" cap="none" strike="noStrike">
                <a:solidFill>
                  <a:srgbClr val="12315D"/>
                </a:solidFill>
                <a:latin typeface="Malgun Gothic"/>
                <a:ea typeface="Malgun Gothic"/>
                <a:cs typeface="Malgun Gothic"/>
                <a:sym typeface="Malgun Gothic"/>
              </a:rPr>
              <a:t>개선된 추천 로직</a:t>
            </a:r>
            <a:endParaRPr b="0" i="0" sz="106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1" name="Google Shape;721;g3fb5b8e4078_0_714"/>
          <p:cNvSpPr/>
          <p:nvPr/>
        </p:nvSpPr>
        <p:spPr>
          <a:xfrm>
            <a:off x="288050" y="6053422"/>
            <a:ext cx="8572800" cy="530400"/>
          </a:xfrm>
          <a:prstGeom prst="roundRect">
            <a:avLst>
              <a:gd fmla="val 18182" name="adj"/>
            </a:avLst>
          </a:prstGeom>
          <a:solidFill>
            <a:srgbClr val="F4FAFF"/>
          </a:solidFill>
          <a:ln cap="flat" cmpd="sng" w="12700">
            <a:solidFill>
              <a:srgbClr val="BBD6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g3fb5b8e4078_0_714"/>
          <p:cNvSpPr/>
          <p:nvPr/>
        </p:nvSpPr>
        <p:spPr>
          <a:xfrm>
            <a:off x="425200" y="6128626"/>
            <a:ext cx="82983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" lIns="500" spcFirstLastPara="1" rIns="500" wrap="square" tIns="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B56B3"/>
              </a:buClr>
              <a:buSzPts val="1220"/>
              <a:buFont typeface="Malgun Gothic"/>
              <a:buNone/>
            </a:pPr>
            <a:r>
              <a:rPr b="1" i="0" lang="ko-KR" sz="1220" u="none" cap="none" strike="noStrike">
                <a:solidFill>
                  <a:srgbClr val="0B56B3"/>
                </a:solidFill>
                <a:latin typeface="Malgun Gothic"/>
                <a:ea typeface="Malgun Gothic"/>
                <a:cs typeface="Malgun Gothic"/>
                <a:sym typeface="Malgun Gothic"/>
              </a:rPr>
              <a:t>핵심 구현 흐름: 취업고민 여부 판단 → 후보 캠프 </a:t>
            </a:r>
            <a:r>
              <a:rPr b="1" lang="ko-KR" sz="1220">
                <a:solidFill>
                  <a:srgbClr val="0B56B3"/>
                </a:solidFill>
                <a:latin typeface="Malgun Gothic"/>
                <a:ea typeface="Malgun Gothic"/>
                <a:cs typeface="Malgun Gothic"/>
                <a:sym typeface="Malgun Gothic"/>
              </a:rPr>
              <a:t>리스트</a:t>
            </a:r>
            <a:r>
              <a:rPr b="1" i="0" lang="ko-KR" sz="1220" u="none" cap="none" strike="noStrike">
                <a:solidFill>
                  <a:srgbClr val="0B56B3"/>
                </a:solidFill>
                <a:latin typeface="Malgun Gothic"/>
                <a:ea typeface="Malgun Gothic"/>
                <a:cs typeface="Malgun Gothic"/>
                <a:sym typeface="Malgun Gothic"/>
              </a:rPr>
              <a:t> 생성 → 필터링 → 적합도 Scoring → TOP N 추천 → 검수·성과 개선</a:t>
            </a:r>
            <a:endParaRPr b="0" i="0" sz="122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23" name="Google Shape;723;g3fb5b8e4078_0_714"/>
          <p:cNvSpPr/>
          <p:nvPr/>
        </p:nvSpPr>
        <p:spPr>
          <a:xfrm>
            <a:off x="159350" y="183350"/>
            <a:ext cx="57300" cy="48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g3fb5b8e4078_0_714"/>
          <p:cNvSpPr txBox="1"/>
          <p:nvPr/>
        </p:nvSpPr>
        <p:spPr>
          <a:xfrm>
            <a:off x="302225" y="183350"/>
            <a:ext cx="5036400" cy="4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ko-KR" sz="285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다음 단계에서 구현할 주요 기능</a:t>
            </a:r>
            <a:endParaRPr b="1" sz="2850">
              <a:solidFill>
                <a:srgbClr val="0F172A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25" name="Google Shape;725;g3fb5b8e4078_0_714"/>
          <p:cNvSpPr txBox="1"/>
          <p:nvPr/>
        </p:nvSpPr>
        <p:spPr>
          <a:xfrm>
            <a:off x="367899" y="714800"/>
            <a:ext cx="7111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QnA </a:t>
            </a:r>
            <a:r>
              <a:rPr lang="ko-KR" sz="1050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유형화 · 부트캠프 유형화 · 키워드 추출/매핑 이후 구현해야 할 핵심 기능 6가지</a:t>
            </a:r>
            <a:endParaRPr sz="1050">
              <a:solidFill>
                <a:srgbClr val="64748B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409ea9d7f65_12_101"/>
          <p:cNvSpPr txBox="1"/>
          <p:nvPr>
            <p:ph type="ctrTitle"/>
          </p:nvPr>
        </p:nvSpPr>
        <p:spPr>
          <a:xfrm>
            <a:off x="866200" y="1095400"/>
            <a:ext cx="7772400" cy="29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t/>
            </a:r>
            <a:endParaRPr b="1" sz="34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b="1" lang="ko-KR" sz="3400">
                <a:latin typeface="Noto Sans KR"/>
                <a:ea typeface="Noto Sans KR"/>
                <a:cs typeface="Noto Sans KR"/>
                <a:sym typeface="Noto Sans KR"/>
              </a:rPr>
              <a:t>감사합니다.</a:t>
            </a:r>
            <a:endParaRPr b="1" sz="34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t/>
            </a:r>
            <a:endParaRPr b="1" sz="151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1" name="Google Shape;731;g409ea9d7f65_12_101"/>
          <p:cNvSpPr txBox="1"/>
          <p:nvPr>
            <p:ph idx="1" type="subTitle"/>
          </p:nvPr>
        </p:nvSpPr>
        <p:spPr>
          <a:xfrm>
            <a:off x="1371601" y="4089400"/>
            <a:ext cx="6847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22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b="1" lang="ko-KR" sz="2200">
                <a:latin typeface="Noto Sans KR"/>
                <a:ea typeface="Noto Sans KR"/>
                <a:cs typeface="Noto Sans KR"/>
                <a:sym typeface="Noto Sans KR"/>
              </a:rPr>
              <a:t>AX2팀 (김은성, 정혜연, 현우진, 박은향)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2026-09-14T00:01:11Z</dcterms:created>
  <dc:creator>박은향</dc:creator>
</cp:coreProperties>
</file>